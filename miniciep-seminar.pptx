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7"/>
  </p:notesMasterIdLst>
  <p:sldIdLst>
    <p:sldId id="256" r:id="rId5"/>
    <p:sldId id="257" r:id="rId6"/>
    <p:sldId id="356" r:id="rId7"/>
    <p:sldId id="258" r:id="rId8"/>
    <p:sldId id="281" r:id="rId9"/>
    <p:sldId id="282" r:id="rId10"/>
    <p:sldId id="337" r:id="rId11"/>
    <p:sldId id="345" r:id="rId12"/>
    <p:sldId id="347" r:id="rId13"/>
    <p:sldId id="280" r:id="rId14"/>
    <p:sldId id="263" r:id="rId15"/>
    <p:sldId id="264" r:id="rId16"/>
    <p:sldId id="265" r:id="rId17"/>
    <p:sldId id="266" r:id="rId18"/>
    <p:sldId id="267" r:id="rId19"/>
    <p:sldId id="268" r:id="rId20"/>
    <p:sldId id="269" r:id="rId21"/>
    <p:sldId id="351" r:id="rId22"/>
    <p:sldId id="270" r:id="rId23"/>
    <p:sldId id="273" r:id="rId24"/>
    <p:sldId id="275" r:id="rId25"/>
    <p:sldId id="276" r:id="rId26"/>
    <p:sldId id="277" r:id="rId27"/>
    <p:sldId id="352" r:id="rId28"/>
    <p:sldId id="353" r:id="rId29"/>
    <p:sldId id="354" r:id="rId30"/>
    <p:sldId id="355" r:id="rId31"/>
    <p:sldId id="350" r:id="rId32"/>
    <p:sldId id="358" r:id="rId33"/>
    <p:sldId id="348" r:id="rId34"/>
    <p:sldId id="349" r:id="rId35"/>
    <p:sldId id="357"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81775"/>
  </p:normalViewPr>
  <p:slideViewPr>
    <p:cSldViewPr snapToGrid="0">
      <p:cViewPr varScale="1">
        <p:scale>
          <a:sx n="74" d="100"/>
          <a:sy n="74" d="100"/>
        </p:scale>
        <p:origin x="1920"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734872-41CA-6C40-8C9F-B226420585EF}" type="datetimeFigureOut">
              <a:rPr lang="en-DE" smtClean="0"/>
              <a:t>22.11.25</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BBF17-6C16-3A43-A52D-FBE29E146D8A}" type="slidenum">
              <a:rPr lang="en-DE" smtClean="0"/>
              <a:t>‹#›</a:t>
            </a:fld>
            <a:endParaRPr lang="en-DE"/>
          </a:p>
        </p:txBody>
      </p:sp>
    </p:spTree>
    <p:extLst>
      <p:ext uri="{BB962C8B-B14F-4D97-AF65-F5344CB8AC3E}">
        <p14:creationId xmlns:p14="http://schemas.microsoft.com/office/powerpoint/2010/main" val="450984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1</a:t>
            </a:fld>
            <a:endParaRPr lang="en-DE"/>
          </a:p>
        </p:txBody>
      </p:sp>
    </p:spTree>
    <p:extLst>
      <p:ext uri="{BB962C8B-B14F-4D97-AF65-F5344CB8AC3E}">
        <p14:creationId xmlns:p14="http://schemas.microsoft.com/office/powerpoint/2010/main" val="340691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3</a:t>
            </a:fld>
            <a:endParaRPr lang="en-DE"/>
          </a:p>
        </p:txBody>
      </p:sp>
    </p:spTree>
    <p:extLst>
      <p:ext uri="{BB962C8B-B14F-4D97-AF65-F5344CB8AC3E}">
        <p14:creationId xmlns:p14="http://schemas.microsoft.com/office/powerpoint/2010/main" val="4199014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We will use a portion of miniciep+ for our workshop.</a:t>
            </a:r>
          </a:p>
        </p:txBody>
      </p:sp>
      <p:sp>
        <p:nvSpPr>
          <p:cNvPr id="4" name="Slide Number Placeholder 3"/>
          <p:cNvSpPr>
            <a:spLocks noGrp="1"/>
          </p:cNvSpPr>
          <p:nvPr>
            <p:ph type="sldNum" sz="quarter" idx="5"/>
          </p:nvPr>
        </p:nvSpPr>
        <p:spPr/>
        <p:txBody>
          <a:bodyPr/>
          <a:lstStyle/>
          <a:p>
            <a:fld id="{7F9BBF17-6C16-3A43-A52D-FBE29E146D8A}" type="slidenum">
              <a:rPr lang="en-DE" smtClean="0"/>
              <a:t>4</a:t>
            </a:fld>
            <a:endParaRPr lang="en-DE"/>
          </a:p>
        </p:txBody>
      </p:sp>
    </p:spTree>
    <p:extLst>
      <p:ext uri="{BB962C8B-B14F-4D97-AF65-F5344CB8AC3E}">
        <p14:creationId xmlns:p14="http://schemas.microsoft.com/office/powerpoint/2010/main" val="1355594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5</a:t>
            </a:fld>
            <a:endParaRPr lang="en-DE"/>
          </a:p>
        </p:txBody>
      </p:sp>
    </p:spTree>
    <p:extLst>
      <p:ext uri="{BB962C8B-B14F-4D97-AF65-F5344CB8AC3E}">
        <p14:creationId xmlns:p14="http://schemas.microsoft.com/office/powerpoint/2010/main" val="3766987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6</a:t>
            </a:fld>
            <a:endParaRPr lang="en-DE"/>
          </a:p>
        </p:txBody>
      </p:sp>
    </p:spTree>
    <p:extLst>
      <p:ext uri="{BB962C8B-B14F-4D97-AF65-F5344CB8AC3E}">
        <p14:creationId xmlns:p14="http://schemas.microsoft.com/office/powerpoint/2010/main" val="252553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GB" dirty="0">
                <a:latin typeface="+mn-lt"/>
                <a:ea typeface="ＭＳ Ｐゴシック"/>
                <a:cs typeface="Arial"/>
              </a:rPr>
              <a:t>Ultimately, CIEP+ will have multiple layers of annotation; including metadata; dependency parsing using the UD framework, information status, surprisal, probably several types, right now we have trigrams; and named entitiy recognition. To this may be added coreference resolution. </a:t>
            </a:r>
          </a:p>
          <a:p>
            <a:pPr algn="just"/>
            <a:r>
              <a:rPr lang="en-GB" dirty="0">
                <a:ea typeface="ＭＳ Ｐゴシック"/>
                <a:cs typeface="Calibri"/>
              </a:rPr>
              <a:t>The structure of CIEP+ is conceived as modular, with a pipeline of Python scripts producing and combining different layers of annotation starting from UTF-8 encoded text files. </a:t>
            </a:r>
          </a:p>
          <a:p>
            <a:pPr algn="just"/>
            <a:endParaRPr lang="en-GB" dirty="0">
              <a:ea typeface="ＭＳ Ｐゴシック"/>
              <a:cs typeface="Calibri"/>
            </a:endParaRPr>
          </a:p>
          <a:p>
            <a:pPr algn="just"/>
            <a:r>
              <a:rPr lang="en-GB" dirty="0">
                <a:ea typeface="ＭＳ Ｐゴシック"/>
                <a:cs typeface="Calibri"/>
              </a:rPr>
              <a:t>As for tools, we are using the python library Stanza to parse CIEP+ using universal dependencies models; which outperforms other parsers. We use CQP web tobe able to query several layers of annotation at once. We will use other tools for sentence and word alignment, as I will explain in a minute. </a:t>
            </a:r>
            <a:endParaRPr lang="en-GB" dirty="0">
              <a:cs typeface="Calibri"/>
            </a:endParaRPr>
          </a:p>
          <a:p>
            <a:pPr algn="just"/>
            <a:endParaRPr lang="en-GB" dirty="0">
              <a:cs typeface="Calibri"/>
            </a:endParaRPr>
          </a:p>
          <a:p>
            <a:pPr marL="171450" indent="-171450" algn="just">
              <a:buFont typeface="Arial"/>
              <a:buChar char="•"/>
            </a:pPr>
            <a:endParaRPr lang="en-GB" dirty="0">
              <a:ea typeface="ＭＳ Ｐゴシック"/>
              <a:cs typeface="Calibri"/>
            </a:endParaRPr>
          </a:p>
          <a:p>
            <a:pPr algn="just"/>
            <a:endParaRPr lang="en-GB" dirty="0">
              <a:cs typeface="Calibri"/>
            </a:endParaRPr>
          </a:p>
          <a:p>
            <a:pPr algn="just">
              <a:spcBef>
                <a:spcPct val="20000"/>
              </a:spcBef>
              <a:buFont typeface="Arial"/>
            </a:pPr>
            <a:endParaRPr lang="en-GB" dirty="0">
              <a:cs typeface="Calibri"/>
            </a:endParaRPr>
          </a:p>
          <a:p>
            <a:pPr algn="just">
              <a:spcBef>
                <a:spcPts val="0"/>
              </a:spcBef>
              <a:spcAft>
                <a:spcPts val="0"/>
              </a:spcAft>
            </a:pPr>
            <a:endParaRPr lang="en-GB"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pPr>
              <a:defRPr/>
            </a:pPr>
            <a:fld id="{B34F0AF5-7969-EB45-983F-91F52F21DFD0}" type="slidenum">
              <a:rPr lang="de-DE"/>
              <a:pPr>
                <a:defRPr/>
              </a:pPr>
              <a:t>7</a:t>
            </a:fld>
            <a:endParaRPr lang="de-DE"/>
          </a:p>
        </p:txBody>
      </p:sp>
    </p:spTree>
    <p:extLst>
      <p:ext uri="{BB962C8B-B14F-4D97-AF65-F5344CB8AC3E}">
        <p14:creationId xmlns:p14="http://schemas.microsoft.com/office/powerpoint/2010/main" val="2978289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8</a:t>
            </a:fld>
            <a:endParaRPr lang="en-DE"/>
          </a:p>
        </p:txBody>
      </p:sp>
    </p:spTree>
    <p:extLst>
      <p:ext uri="{BB962C8B-B14F-4D97-AF65-F5344CB8AC3E}">
        <p14:creationId xmlns:p14="http://schemas.microsoft.com/office/powerpoint/2010/main" val="1393936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Daniel </a:t>
            </a:r>
            <a:r>
              <a:rPr lang="en-DE" dirty="0"/>
              <a:t>Zeman is one of the people behind UD.</a:t>
            </a:r>
          </a:p>
          <a:p>
            <a:endParaRPr lang="en-DE" dirty="0"/>
          </a:p>
          <a:p>
            <a:r>
              <a:rPr lang="en-DE" dirty="0"/>
              <a:t>At the end of the day, this is mostly an opportunistic choice, as Universal Dependencies use this type of formalism.</a:t>
            </a:r>
          </a:p>
        </p:txBody>
      </p:sp>
      <p:sp>
        <p:nvSpPr>
          <p:cNvPr id="4" name="Slide Number Placeholder 3"/>
          <p:cNvSpPr>
            <a:spLocks noGrp="1"/>
          </p:cNvSpPr>
          <p:nvPr>
            <p:ph type="sldNum" sz="quarter" idx="5"/>
          </p:nvPr>
        </p:nvSpPr>
        <p:spPr/>
        <p:txBody>
          <a:bodyPr/>
          <a:lstStyle/>
          <a:p>
            <a:fld id="{7F9BBF17-6C16-3A43-A52D-FBE29E146D8A}" type="slidenum">
              <a:rPr lang="en-DE" smtClean="0"/>
              <a:t>11</a:t>
            </a:fld>
            <a:endParaRPr lang="en-DE"/>
          </a:p>
        </p:txBody>
      </p:sp>
    </p:spTree>
    <p:extLst>
      <p:ext uri="{BB962C8B-B14F-4D97-AF65-F5344CB8AC3E}">
        <p14:creationId xmlns:p14="http://schemas.microsoft.com/office/powerpoint/2010/main" val="129839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thought that the best way to introduce Universal Dependencies is using the words of its author. </a:t>
            </a:r>
          </a:p>
        </p:txBody>
      </p:sp>
      <p:sp>
        <p:nvSpPr>
          <p:cNvPr id="4" name="Slide Number Placeholder 3"/>
          <p:cNvSpPr>
            <a:spLocks noGrp="1"/>
          </p:cNvSpPr>
          <p:nvPr>
            <p:ph type="sldNum" sz="quarter" idx="5"/>
          </p:nvPr>
        </p:nvSpPr>
        <p:spPr/>
        <p:txBody>
          <a:bodyPr/>
          <a:lstStyle/>
          <a:p>
            <a:fld id="{7F9BBF17-6C16-3A43-A52D-FBE29E146D8A}" type="slidenum">
              <a:rPr lang="en-DE" smtClean="0"/>
              <a:t>12</a:t>
            </a:fld>
            <a:endParaRPr lang="en-DE"/>
          </a:p>
        </p:txBody>
      </p:sp>
    </p:spTree>
    <p:extLst>
      <p:ext uri="{BB962C8B-B14F-4D97-AF65-F5344CB8AC3E}">
        <p14:creationId xmlns:p14="http://schemas.microsoft.com/office/powerpoint/2010/main" val="2637458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16</a:t>
            </a:fld>
            <a:endParaRPr lang="en-DE"/>
          </a:p>
        </p:txBody>
      </p:sp>
    </p:spTree>
    <p:extLst>
      <p:ext uri="{BB962C8B-B14F-4D97-AF65-F5344CB8AC3E}">
        <p14:creationId xmlns:p14="http://schemas.microsoft.com/office/powerpoint/2010/main" val="67411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65147-62A0-D397-00F2-1F33941D6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B44EB-F365-52D4-1023-BF9068517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FD1AF-CF3E-017C-0972-8828E928A6CD}"/>
              </a:ext>
            </a:extLst>
          </p:cNvPr>
          <p:cNvSpPr>
            <a:spLocks noGrp="1"/>
          </p:cNvSpPr>
          <p:nvPr>
            <p:ph type="body" idx="1"/>
          </p:nvPr>
        </p:nvSpPr>
        <p:spPr/>
        <p:txBody>
          <a:bodyPr/>
          <a:lstStyle/>
          <a:p>
            <a:r>
              <a:rPr lang="en-DE" dirty="0"/>
              <a:t>Croft 2001: Radical Construction Grammar</a:t>
            </a:r>
          </a:p>
        </p:txBody>
      </p:sp>
      <p:sp>
        <p:nvSpPr>
          <p:cNvPr id="4" name="Slide Number Placeholder 3">
            <a:extLst>
              <a:ext uri="{FF2B5EF4-FFF2-40B4-BE49-F238E27FC236}">
                <a16:creationId xmlns:a16="http://schemas.microsoft.com/office/drawing/2014/main" id="{73CF047A-B8DE-F68A-8DE5-782B7F13EA7E}"/>
              </a:ext>
            </a:extLst>
          </p:cNvPr>
          <p:cNvSpPr>
            <a:spLocks noGrp="1"/>
          </p:cNvSpPr>
          <p:nvPr>
            <p:ph type="sldNum" sz="quarter" idx="5"/>
          </p:nvPr>
        </p:nvSpPr>
        <p:spPr/>
        <p:txBody>
          <a:bodyPr/>
          <a:lstStyle/>
          <a:p>
            <a:fld id="{7F9BBF17-6C16-3A43-A52D-FBE29E146D8A}" type="slidenum">
              <a:rPr lang="en-DE" smtClean="0"/>
              <a:t>17</a:t>
            </a:fld>
            <a:endParaRPr lang="en-DE"/>
          </a:p>
        </p:txBody>
      </p:sp>
    </p:spTree>
    <p:extLst>
      <p:ext uri="{BB962C8B-B14F-4D97-AF65-F5344CB8AC3E}">
        <p14:creationId xmlns:p14="http://schemas.microsoft.com/office/powerpoint/2010/main" val="2090944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18</a:t>
            </a:fld>
            <a:endParaRPr lang="en-DE"/>
          </a:p>
        </p:txBody>
      </p:sp>
    </p:spTree>
    <p:extLst>
      <p:ext uri="{BB962C8B-B14F-4D97-AF65-F5344CB8AC3E}">
        <p14:creationId xmlns:p14="http://schemas.microsoft.com/office/powerpoint/2010/main" val="1348635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DD393-A648-A6D7-3CF2-2AC548DF0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7DE5F-087A-9A03-0E82-BA406F639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22ED1-F562-CC69-3B6B-A7A14D7178C9}"/>
              </a:ext>
            </a:extLst>
          </p:cNvPr>
          <p:cNvSpPr>
            <a:spLocks noGrp="1"/>
          </p:cNvSpPr>
          <p:nvPr>
            <p:ph type="body" idx="1"/>
          </p:nvPr>
        </p:nvSpPr>
        <p:spPr/>
        <p:txBody>
          <a:bodyPr/>
          <a:lstStyle/>
          <a:p>
            <a:r>
              <a:rPr lang="en-DE"/>
              <a:t>This fundamental distinction is reflected in the official table summing up the dependency relations of UD.</a:t>
            </a:r>
            <a:endParaRPr lang="en-DE" dirty="0"/>
          </a:p>
        </p:txBody>
      </p:sp>
      <p:sp>
        <p:nvSpPr>
          <p:cNvPr id="4" name="Slide Number Placeholder 3">
            <a:extLst>
              <a:ext uri="{FF2B5EF4-FFF2-40B4-BE49-F238E27FC236}">
                <a16:creationId xmlns:a16="http://schemas.microsoft.com/office/drawing/2014/main" id="{53240CF8-29A4-667D-76AB-DBCD9341963B}"/>
              </a:ext>
            </a:extLst>
          </p:cNvPr>
          <p:cNvSpPr>
            <a:spLocks noGrp="1"/>
          </p:cNvSpPr>
          <p:nvPr>
            <p:ph type="sldNum" sz="quarter" idx="5"/>
          </p:nvPr>
        </p:nvSpPr>
        <p:spPr/>
        <p:txBody>
          <a:bodyPr/>
          <a:lstStyle/>
          <a:p>
            <a:fld id="{7F9BBF17-6C16-3A43-A52D-FBE29E146D8A}" type="slidenum">
              <a:rPr lang="en-DE" smtClean="0"/>
              <a:t>19</a:t>
            </a:fld>
            <a:endParaRPr lang="en-DE"/>
          </a:p>
        </p:txBody>
      </p:sp>
    </p:spTree>
    <p:extLst>
      <p:ext uri="{BB962C8B-B14F-4D97-AF65-F5344CB8AC3E}">
        <p14:creationId xmlns:p14="http://schemas.microsoft.com/office/powerpoint/2010/main" val="693861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F9BBF17-6C16-3A43-A52D-FBE29E146D8A}" type="slidenum">
              <a:rPr lang="en-DE" smtClean="0"/>
              <a:t>20</a:t>
            </a:fld>
            <a:endParaRPr lang="en-DE"/>
          </a:p>
        </p:txBody>
      </p:sp>
    </p:spTree>
    <p:extLst>
      <p:ext uri="{BB962C8B-B14F-4D97-AF65-F5344CB8AC3E}">
        <p14:creationId xmlns:p14="http://schemas.microsoft.com/office/powerpoint/2010/main" val="1088596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C95A5-A5C4-B7D4-832B-C685EAE59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23010-AEE0-55AE-5E33-E7A99AAF4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452727-C531-8CBB-3A74-EC5518319CD6}"/>
              </a:ext>
            </a:extLst>
          </p:cNvPr>
          <p:cNvSpPr>
            <a:spLocks noGrp="1"/>
          </p:cNvSpPr>
          <p:nvPr>
            <p:ph type="body" idx="1"/>
          </p:nvPr>
        </p:nvSpPr>
        <p:spPr/>
        <p:txBody>
          <a:bodyPr/>
          <a:lstStyle/>
          <a:p>
            <a:endParaRPr lang="en-GB" dirty="0"/>
          </a:p>
          <a:p>
            <a:r>
              <a:rPr lang="en-GB" dirty="0"/>
              <a:t>pattern {</a:t>
            </a:r>
          </a:p>
          <a:p>
            <a:r>
              <a:rPr lang="en-GB" dirty="0"/>
              <a:t>  X [</a:t>
            </a:r>
            <a:r>
              <a:rPr lang="en-GB" dirty="0" err="1"/>
              <a:t>upos</a:t>
            </a:r>
            <a:r>
              <a:rPr lang="en-GB" dirty="0"/>
              <a:t>=ADJ];</a:t>
            </a:r>
          </a:p>
          <a:p>
            <a:r>
              <a:rPr lang="en-GB" dirty="0"/>
              <a:t>    Y [</a:t>
            </a:r>
            <a:r>
              <a:rPr lang="en-GB" dirty="0" err="1"/>
              <a:t>upos</a:t>
            </a:r>
            <a:r>
              <a:rPr lang="en-GB" dirty="0"/>
              <a:t>=VERB];</a:t>
            </a:r>
          </a:p>
          <a:p>
            <a:r>
              <a:rPr lang="en-GB" dirty="0"/>
              <a:t>  Y -[</a:t>
            </a:r>
            <a:r>
              <a:rPr lang="en-GB" dirty="0" err="1"/>
              <a:t>nsubj</a:t>
            </a:r>
            <a:r>
              <a:rPr lang="en-GB" dirty="0"/>
              <a:t>]-&gt; X;</a:t>
            </a:r>
          </a:p>
          <a:p>
            <a:r>
              <a:rPr lang="en-GB" dirty="0"/>
              <a:t>}</a:t>
            </a:r>
          </a:p>
          <a:p>
            <a:endParaRPr lang="en-GB" dirty="0"/>
          </a:p>
        </p:txBody>
      </p:sp>
      <p:sp>
        <p:nvSpPr>
          <p:cNvPr id="4" name="Slide Number Placeholder 3">
            <a:extLst>
              <a:ext uri="{FF2B5EF4-FFF2-40B4-BE49-F238E27FC236}">
                <a16:creationId xmlns:a16="http://schemas.microsoft.com/office/drawing/2014/main" id="{00D83FC7-E7BC-983F-40CA-983950ECF00E}"/>
              </a:ext>
            </a:extLst>
          </p:cNvPr>
          <p:cNvSpPr>
            <a:spLocks noGrp="1"/>
          </p:cNvSpPr>
          <p:nvPr>
            <p:ph type="sldNum" sz="quarter" idx="5"/>
          </p:nvPr>
        </p:nvSpPr>
        <p:spPr/>
        <p:txBody>
          <a:bodyPr/>
          <a:lstStyle/>
          <a:p>
            <a:fld id="{7F9BBF17-6C16-3A43-A52D-FBE29E146D8A}" type="slidenum">
              <a:rPr lang="en-DE" smtClean="0"/>
              <a:t>21</a:t>
            </a:fld>
            <a:endParaRPr lang="en-DE"/>
          </a:p>
        </p:txBody>
      </p:sp>
    </p:spTree>
    <p:extLst>
      <p:ext uri="{BB962C8B-B14F-4D97-AF65-F5344CB8AC3E}">
        <p14:creationId xmlns:p14="http://schemas.microsoft.com/office/powerpoint/2010/main" val="2601441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5ECFE-F7FB-DB2D-3B3B-BABCE14484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2CEB7-A359-C92B-3C49-C51EFAAA06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54B73-6E48-9E94-7BA8-5B9BF17DCE0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B03749A-25E0-00DD-8910-A4958A9E31FE}"/>
              </a:ext>
            </a:extLst>
          </p:cNvPr>
          <p:cNvSpPr>
            <a:spLocks noGrp="1"/>
          </p:cNvSpPr>
          <p:nvPr>
            <p:ph type="sldNum" sz="quarter" idx="5"/>
          </p:nvPr>
        </p:nvSpPr>
        <p:spPr/>
        <p:txBody>
          <a:bodyPr/>
          <a:lstStyle/>
          <a:p>
            <a:fld id="{7F9BBF17-6C16-3A43-A52D-FBE29E146D8A}" type="slidenum">
              <a:rPr lang="en-DE" smtClean="0"/>
              <a:t>22</a:t>
            </a:fld>
            <a:endParaRPr lang="en-DE"/>
          </a:p>
        </p:txBody>
      </p:sp>
    </p:spTree>
    <p:extLst>
      <p:ext uri="{BB962C8B-B14F-4D97-AF65-F5344CB8AC3E}">
        <p14:creationId xmlns:p14="http://schemas.microsoft.com/office/powerpoint/2010/main" val="20025640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72FB8-6475-6C6C-D47B-739F3EE71E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F8A04B-8D74-06BD-C31E-977893A858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4BC643-D34F-7DC0-8170-DB2D889AF50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C0BA963-54A2-BA09-9957-029119B52D54}"/>
              </a:ext>
            </a:extLst>
          </p:cNvPr>
          <p:cNvSpPr>
            <a:spLocks noGrp="1"/>
          </p:cNvSpPr>
          <p:nvPr>
            <p:ph type="sldNum" sz="quarter" idx="5"/>
          </p:nvPr>
        </p:nvSpPr>
        <p:spPr/>
        <p:txBody>
          <a:bodyPr/>
          <a:lstStyle/>
          <a:p>
            <a:fld id="{7F9BBF17-6C16-3A43-A52D-FBE29E146D8A}" type="slidenum">
              <a:rPr lang="en-DE" smtClean="0"/>
              <a:t>23</a:t>
            </a:fld>
            <a:endParaRPr lang="en-DE"/>
          </a:p>
        </p:txBody>
      </p:sp>
    </p:spTree>
    <p:extLst>
      <p:ext uri="{BB962C8B-B14F-4D97-AF65-F5344CB8AC3E}">
        <p14:creationId xmlns:p14="http://schemas.microsoft.com/office/powerpoint/2010/main" val="121395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24</a:t>
            </a:fld>
            <a:endParaRPr lang="en-DE"/>
          </a:p>
        </p:txBody>
      </p:sp>
    </p:spTree>
    <p:extLst>
      <p:ext uri="{BB962C8B-B14F-4D97-AF65-F5344CB8AC3E}">
        <p14:creationId xmlns:p14="http://schemas.microsoft.com/office/powerpoint/2010/main" val="200595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25</a:t>
            </a:fld>
            <a:endParaRPr lang="en-DE"/>
          </a:p>
        </p:txBody>
      </p:sp>
    </p:spTree>
    <p:extLst>
      <p:ext uri="{BB962C8B-B14F-4D97-AF65-F5344CB8AC3E}">
        <p14:creationId xmlns:p14="http://schemas.microsoft.com/office/powerpoint/2010/main" val="4006313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D2AA7-DD47-28A4-8F41-CF009D843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A1D96-51F5-8D8D-8E81-7B63E2420A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E734FF-F38B-9167-01DF-ED45C75D9C0F}"/>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4FD0FFB5-F6F4-CD15-01D7-4CEB18151AAF}"/>
              </a:ext>
            </a:extLst>
          </p:cNvPr>
          <p:cNvSpPr>
            <a:spLocks noGrp="1"/>
          </p:cNvSpPr>
          <p:nvPr>
            <p:ph type="sldNum" sz="quarter" idx="5"/>
          </p:nvPr>
        </p:nvSpPr>
        <p:spPr/>
        <p:txBody>
          <a:bodyPr/>
          <a:lstStyle/>
          <a:p>
            <a:fld id="{7F9BBF17-6C16-3A43-A52D-FBE29E146D8A}" type="slidenum">
              <a:rPr lang="en-DE" smtClean="0"/>
              <a:t>26</a:t>
            </a:fld>
            <a:endParaRPr lang="en-DE"/>
          </a:p>
        </p:txBody>
      </p:sp>
    </p:spTree>
    <p:extLst>
      <p:ext uri="{BB962C8B-B14F-4D97-AF65-F5344CB8AC3E}">
        <p14:creationId xmlns:p14="http://schemas.microsoft.com/office/powerpoint/2010/main" val="26075466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A01A5-8B69-0274-7DB3-D3EBEA0DD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BC29D-9879-58E1-42EF-B1E541843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903C8B-AD86-1890-2B5D-3047F3CB3CA4}"/>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980E98F9-3267-513D-05A3-47D1E0A74900}"/>
              </a:ext>
            </a:extLst>
          </p:cNvPr>
          <p:cNvSpPr>
            <a:spLocks noGrp="1"/>
          </p:cNvSpPr>
          <p:nvPr>
            <p:ph type="sldNum" sz="quarter" idx="5"/>
          </p:nvPr>
        </p:nvSpPr>
        <p:spPr/>
        <p:txBody>
          <a:bodyPr/>
          <a:lstStyle/>
          <a:p>
            <a:fld id="{7F9BBF17-6C16-3A43-A52D-FBE29E146D8A}" type="slidenum">
              <a:rPr lang="en-DE" smtClean="0"/>
              <a:t>27</a:t>
            </a:fld>
            <a:endParaRPr lang="en-DE"/>
          </a:p>
        </p:txBody>
      </p:sp>
    </p:spTree>
    <p:extLst>
      <p:ext uri="{BB962C8B-B14F-4D97-AF65-F5344CB8AC3E}">
        <p14:creationId xmlns:p14="http://schemas.microsoft.com/office/powerpoint/2010/main" val="32701895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A selection of tools for working the UD</a:t>
            </a:r>
          </a:p>
        </p:txBody>
      </p:sp>
      <p:sp>
        <p:nvSpPr>
          <p:cNvPr id="4" name="Slide Number Placeholder 3"/>
          <p:cNvSpPr>
            <a:spLocks noGrp="1"/>
          </p:cNvSpPr>
          <p:nvPr>
            <p:ph type="sldNum" sz="quarter" idx="5"/>
          </p:nvPr>
        </p:nvSpPr>
        <p:spPr/>
        <p:txBody>
          <a:bodyPr/>
          <a:lstStyle/>
          <a:p>
            <a:fld id="{7F9BBF17-6C16-3A43-A52D-FBE29E146D8A}" type="slidenum">
              <a:rPr lang="en-DE" smtClean="0"/>
              <a:t>29</a:t>
            </a:fld>
            <a:endParaRPr lang="en-DE"/>
          </a:p>
        </p:txBody>
      </p:sp>
    </p:spTree>
    <p:extLst>
      <p:ext uri="{BB962C8B-B14F-4D97-AF65-F5344CB8AC3E}">
        <p14:creationId xmlns:p14="http://schemas.microsoft.com/office/powerpoint/2010/main" val="26406899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31</a:t>
            </a:fld>
            <a:endParaRPr lang="en-DE"/>
          </a:p>
        </p:txBody>
      </p:sp>
    </p:spTree>
    <p:extLst>
      <p:ext uri="{BB962C8B-B14F-4D97-AF65-F5344CB8AC3E}">
        <p14:creationId xmlns:p14="http://schemas.microsoft.com/office/powerpoint/2010/main" val="10270475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7F9BBF17-6C16-3A43-A52D-FBE29E146D8A}" type="slidenum">
              <a:rPr lang="en-DE" smtClean="0"/>
              <a:t>32</a:t>
            </a:fld>
            <a:endParaRPr lang="en-DE"/>
          </a:p>
        </p:txBody>
      </p:sp>
    </p:spTree>
    <p:extLst>
      <p:ext uri="{BB962C8B-B14F-4D97-AF65-F5344CB8AC3E}">
        <p14:creationId xmlns:p14="http://schemas.microsoft.com/office/powerpoint/2010/main" val="15661665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GB"/>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GB"/>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11/22/25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11/22/25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11/22/25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11/22/25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GB"/>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11/22/25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11/22/25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609600" y="87927"/>
            <a:ext cx="10972800" cy="738550"/>
          </a:xfrm>
        </p:spPr>
        <p:txBody>
          <a:bodyPr/>
          <a:lstStyle>
            <a:lvl1pPr>
              <a:defRPr sz="4400" b="1" baseline="0">
                <a:solidFill>
                  <a:srgbClr val="3D901C"/>
                </a:solidFill>
                <a:latin typeface="Calibri Light" panose="020F0302020204030204" pitchFamily="34" charset="0"/>
                <a:cs typeface="Arial" panose="020B0604020202020204" pitchFamily="34" charset="0"/>
              </a:defRPr>
            </a:lvl1pPr>
          </a:lstStyle>
          <a:p>
            <a:r>
              <a:rPr lang="de-DE" dirty="0"/>
              <a:t>Mastertitelformat bearbeiten</a:t>
            </a:r>
          </a:p>
        </p:txBody>
      </p:sp>
      <p:sp>
        <p:nvSpPr>
          <p:cNvPr id="3" name="Inhaltsplatzhalter 2"/>
          <p:cNvSpPr>
            <a:spLocks noGrp="1"/>
          </p:cNvSpPr>
          <p:nvPr>
            <p:ph idx="1"/>
          </p:nvPr>
        </p:nvSpPr>
        <p:spPr>
          <a:xfrm>
            <a:off x="609602" y="896822"/>
            <a:ext cx="10972799" cy="5539135"/>
          </a:xfrm>
        </p:spPr>
        <p:txBody>
          <a:bodyPr/>
          <a:lstStyle>
            <a:lvl1pPr>
              <a:buClr>
                <a:srgbClr val="3D901C"/>
              </a:buClr>
              <a:defRPr sz="2800" baseline="0">
                <a:solidFill>
                  <a:schemeClr val="tx1"/>
                </a:solidFill>
                <a:latin typeface="Calibri" panose="020F0502020204030204" pitchFamily="34" charset="0"/>
                <a:cs typeface="Arial" panose="020B0604020202020204" pitchFamily="34" charset="0"/>
              </a:defRPr>
            </a:lvl1pPr>
            <a:lvl2pPr marL="742950" indent="-285750">
              <a:buClr>
                <a:srgbClr val="3D901C"/>
              </a:buClr>
              <a:buFont typeface="Wingdings" panose="05000000000000000000" pitchFamily="2" charset="2"/>
              <a:buChar char="§"/>
              <a:defRPr sz="2400" baseline="0">
                <a:latin typeface="Calibri" panose="020F0502020204030204" pitchFamily="34" charset="0"/>
                <a:cs typeface="Arial" panose="020B0604020202020204" pitchFamily="34" charset="0"/>
              </a:defRPr>
            </a:lvl2pPr>
            <a:lvl3pPr>
              <a:buClr>
                <a:srgbClr val="3D901C"/>
              </a:buClr>
              <a:defRPr sz="2000" baseline="0">
                <a:latin typeface="Calibri" panose="020F0502020204030204" pitchFamily="34" charset="0"/>
                <a:cs typeface="Arial" panose="020B0604020202020204" pitchFamily="34" charset="0"/>
              </a:defRPr>
            </a:lvl3pPr>
            <a:lvl4pPr>
              <a:buClr>
                <a:srgbClr val="3D901C"/>
              </a:buClr>
              <a:defRPr sz="1800" baseline="0">
                <a:latin typeface="Calibri" panose="020F0502020204030204" pitchFamily="34" charset="0"/>
                <a:cs typeface="Arial" panose="020B0604020202020204" pitchFamily="34" charset="0"/>
              </a:defRPr>
            </a:lvl4pPr>
            <a:lvl5pPr>
              <a:buClr>
                <a:srgbClr val="3D901C"/>
              </a:buClr>
              <a:defRPr sz="1800" baseline="0">
                <a:latin typeface="Calibri" panose="020F0502020204030204" pitchFamily="34" charset="0"/>
                <a:cs typeface="Arial" panose="020B0604020202020204" pitchFamily="34"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cxnSp>
        <p:nvCxnSpPr>
          <p:cNvPr id="15" name="Gerade Verbindung 14"/>
          <p:cNvCxnSpPr/>
          <p:nvPr userDrawn="1"/>
        </p:nvCxnSpPr>
        <p:spPr>
          <a:xfrm>
            <a:off x="609600" y="819761"/>
            <a:ext cx="10972800" cy="0"/>
          </a:xfrm>
          <a:prstGeom prst="line">
            <a:avLst/>
          </a:prstGeom>
          <a:ln w="5080">
            <a:solidFill>
              <a:srgbClr val="3D901C"/>
            </a:solidFill>
          </a:ln>
          <a:effectLst>
            <a:outerShdw sx="1000" sy="1000" rotWithShape="0">
              <a:srgbClr val="000000"/>
            </a:outerShdw>
          </a:effectLst>
        </p:spPr>
        <p:style>
          <a:lnRef idx="2">
            <a:schemeClr val="accent1"/>
          </a:lnRef>
          <a:fillRef idx="0">
            <a:schemeClr val="accent1"/>
          </a:fillRef>
          <a:effectRef idx="1">
            <a:schemeClr val="accent1"/>
          </a:effectRef>
          <a:fontRef idx="minor">
            <a:schemeClr val="tx1"/>
          </a:fontRef>
        </p:style>
      </p:cxnSp>
      <p:grpSp>
        <p:nvGrpSpPr>
          <p:cNvPr id="8" name="Gruppieren 7"/>
          <p:cNvGrpSpPr/>
          <p:nvPr userDrawn="1"/>
        </p:nvGrpSpPr>
        <p:grpSpPr>
          <a:xfrm>
            <a:off x="-35442" y="6590395"/>
            <a:ext cx="12262884" cy="281493"/>
            <a:chOff x="-53163" y="6547932"/>
            <a:chExt cx="9197163" cy="281493"/>
          </a:xfrm>
        </p:grpSpPr>
        <p:sp>
          <p:nvSpPr>
            <p:cNvPr id="21" name="Rechteck 20"/>
            <p:cNvSpPr/>
            <p:nvPr userDrawn="1"/>
          </p:nvSpPr>
          <p:spPr>
            <a:xfrm>
              <a:off x="-53163" y="6547932"/>
              <a:ext cx="6192069" cy="281493"/>
            </a:xfrm>
            <a:prstGeom prst="rect">
              <a:avLst/>
            </a:prstGeom>
            <a:solidFill>
              <a:srgbClr val="1F48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200" dirty="0"/>
            </a:p>
          </p:txBody>
        </p:sp>
        <p:sp>
          <p:nvSpPr>
            <p:cNvPr id="23" name="Rechteck 22"/>
            <p:cNvSpPr/>
            <p:nvPr/>
          </p:nvSpPr>
          <p:spPr>
            <a:xfrm>
              <a:off x="6138906" y="6547932"/>
              <a:ext cx="3005094" cy="281493"/>
            </a:xfrm>
            <a:prstGeom prst="rect">
              <a:avLst/>
            </a:prstGeom>
            <a:solidFill>
              <a:srgbClr val="3D9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5" name="Rechteck 4"/>
          <p:cNvSpPr/>
          <p:nvPr userDrawn="1"/>
        </p:nvSpPr>
        <p:spPr>
          <a:xfrm>
            <a:off x="5692343" y="3244334"/>
            <a:ext cx="184731" cy="369332"/>
          </a:xfrm>
          <a:prstGeom prst="rect">
            <a:avLst/>
          </a:prstGeom>
        </p:spPr>
        <p:txBody>
          <a:bodyPr wrap="none">
            <a:spAutoFit/>
          </a:bodyPr>
          <a:lstStyle/>
          <a:p>
            <a:endParaRPr lang="de-DE" dirty="0"/>
          </a:p>
        </p:txBody>
      </p:sp>
      <p:sp>
        <p:nvSpPr>
          <p:cNvPr id="7" name="Rechteck 6"/>
          <p:cNvSpPr/>
          <p:nvPr userDrawn="1"/>
        </p:nvSpPr>
        <p:spPr>
          <a:xfrm>
            <a:off x="8220650" y="6571149"/>
            <a:ext cx="431528" cy="307777"/>
          </a:xfrm>
          <a:prstGeom prst="rect">
            <a:avLst/>
          </a:prstGeom>
        </p:spPr>
        <p:txBody>
          <a:bodyPr wrap="none">
            <a:spAutoFit/>
          </a:bodyPr>
          <a:lstStyle/>
          <a:p>
            <a:fld id="{87EB30BE-AA12-4A35-A347-D12025B9C2FB}" type="slidenum">
              <a:rPr lang="en-US" sz="1400" baseline="0" smtClean="0">
                <a:solidFill>
                  <a:schemeClr val="bg1"/>
                </a:solidFill>
              </a:rPr>
              <a:pPr/>
              <a:t>‹#›</a:t>
            </a:fld>
            <a:r>
              <a:rPr lang="en-US" sz="1200" baseline="0">
                <a:solidFill>
                  <a:schemeClr val="bg1"/>
                </a:solidFill>
              </a:rPr>
              <a:t> </a:t>
            </a:r>
            <a:endParaRPr lang="de-DE" sz="1200" baseline="0" dirty="0">
              <a:solidFill>
                <a:schemeClr val="bg1"/>
              </a:solidFill>
            </a:endParaRPr>
          </a:p>
        </p:txBody>
      </p:sp>
      <p:sp>
        <p:nvSpPr>
          <p:cNvPr id="9" name="TextBox 8">
            <a:extLst>
              <a:ext uri="{FF2B5EF4-FFF2-40B4-BE49-F238E27FC236}">
                <a16:creationId xmlns:a16="http://schemas.microsoft.com/office/drawing/2014/main" id="{BC95BFED-13AA-F246-94F0-DCEEE71885B2}"/>
              </a:ext>
            </a:extLst>
          </p:cNvPr>
          <p:cNvSpPr txBox="1"/>
          <p:nvPr userDrawn="1"/>
        </p:nvSpPr>
        <p:spPr>
          <a:xfrm>
            <a:off x="2724007" y="6555760"/>
            <a:ext cx="5597558" cy="338554"/>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lang="de-DE" sz="1600" b="0">
                <a:solidFill>
                  <a:schemeClr val="bg1"/>
                </a:solidFill>
              </a:rPr>
              <a:t>Language &amp; Languages at the crossroads of Disciplines</a:t>
            </a:r>
            <a:r>
              <a:rPr lang="en-GB" sz="1600" b="0">
                <a:solidFill>
                  <a:schemeClr val="bg1"/>
                </a:solidFill>
              </a:rPr>
              <a:t> Paris 2024</a:t>
            </a:r>
            <a:endParaRPr lang="de-DE" sz="1600" b="0">
              <a:solidFill>
                <a:schemeClr val="bg1"/>
              </a:solidFill>
            </a:endParaRPr>
          </a:p>
        </p:txBody>
      </p:sp>
    </p:spTree>
    <p:extLst>
      <p:ext uri="{BB962C8B-B14F-4D97-AF65-F5344CB8AC3E}">
        <p14:creationId xmlns:p14="http://schemas.microsoft.com/office/powerpoint/2010/main" val="712746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11/22/25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 id="2147483669"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universaldependencies.org/u/pos/all.htm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universaldependencies.org/u/feat/all.ht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universaldependencies.org/query.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hyperlink" Target="https://universaldependencies.org/conllu_viewer.html" TargetMode="External"/><Relationship Id="rId4" Type="http://schemas.openxmlformats.org/officeDocument/2006/relationships/hyperlink" Target="https://universaldependencies.org/tools.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FB1E8-D3F8-DB2A-E27F-799BC689A166}"/>
              </a:ext>
            </a:extLst>
          </p:cNvPr>
          <p:cNvSpPr>
            <a:spLocks noGrp="1"/>
          </p:cNvSpPr>
          <p:nvPr>
            <p:ph type="ctrTitle"/>
          </p:nvPr>
        </p:nvSpPr>
        <p:spPr>
          <a:xfrm>
            <a:off x="386670" y="263895"/>
            <a:ext cx="8689976" cy="2509213"/>
          </a:xfrm>
        </p:spPr>
        <p:txBody>
          <a:bodyPr/>
          <a:lstStyle/>
          <a:p>
            <a:r>
              <a:rPr lang="en-DE" dirty="0"/>
              <a:t>How to do linguistic analysis with the Universal dependencies</a:t>
            </a:r>
          </a:p>
        </p:txBody>
      </p:sp>
      <p:sp>
        <p:nvSpPr>
          <p:cNvPr id="3" name="Subtitle 2">
            <a:extLst>
              <a:ext uri="{FF2B5EF4-FFF2-40B4-BE49-F238E27FC236}">
                <a16:creationId xmlns:a16="http://schemas.microsoft.com/office/drawing/2014/main" id="{655615CC-1857-BCFF-68E9-D909E5573AA5}"/>
              </a:ext>
            </a:extLst>
          </p:cNvPr>
          <p:cNvSpPr>
            <a:spLocks noGrp="1"/>
          </p:cNvSpPr>
          <p:nvPr>
            <p:ph type="subTitle" idx="1"/>
          </p:nvPr>
        </p:nvSpPr>
        <p:spPr>
          <a:xfrm>
            <a:off x="3129869" y="3490685"/>
            <a:ext cx="8689976" cy="1371599"/>
          </a:xfrm>
        </p:spPr>
        <p:txBody>
          <a:bodyPr>
            <a:noAutofit/>
          </a:bodyPr>
          <a:lstStyle/>
          <a:p>
            <a:r>
              <a:rPr lang="en-DE" sz="2800" b="1" cap="none" dirty="0">
                <a:solidFill>
                  <a:schemeClr val="tx1"/>
                </a:solidFill>
              </a:rPr>
              <a:t>Luigi Talamo (</a:t>
            </a:r>
            <a:r>
              <a:rPr lang="en-GB" sz="2800" b="1" cap="none" dirty="0">
                <a:solidFill>
                  <a:schemeClr val="tx1"/>
                </a:solidFill>
              </a:rPr>
              <a:t>Universität des Saarlandes</a:t>
            </a:r>
            <a:r>
              <a:rPr lang="en-DE" sz="2800" b="1" cap="none" dirty="0">
                <a:solidFill>
                  <a:schemeClr val="tx1"/>
                </a:solidFill>
              </a:rPr>
              <a:t>, Germany)</a:t>
            </a:r>
          </a:p>
          <a:p>
            <a:endParaRPr lang="en-DE" sz="1800" b="1" cap="none" dirty="0">
              <a:solidFill>
                <a:schemeClr val="tx1"/>
              </a:solidFill>
            </a:endParaRPr>
          </a:p>
        </p:txBody>
      </p:sp>
      <p:pic>
        <p:nvPicPr>
          <p:cNvPr id="6" name="Picture 5">
            <a:extLst>
              <a:ext uri="{FF2B5EF4-FFF2-40B4-BE49-F238E27FC236}">
                <a16:creationId xmlns:a16="http://schemas.microsoft.com/office/drawing/2014/main" id="{F2231D8A-A5CC-8E27-CC2E-CB0523AE6D6A}"/>
              </a:ext>
            </a:extLst>
          </p:cNvPr>
          <p:cNvPicPr>
            <a:picLocks noChangeAspect="1"/>
          </p:cNvPicPr>
          <p:nvPr/>
        </p:nvPicPr>
        <p:blipFill>
          <a:blip r:embed="rId3"/>
          <a:srcRect/>
          <a:stretch/>
        </p:blipFill>
        <p:spPr>
          <a:xfrm>
            <a:off x="8966862" y="5334001"/>
            <a:ext cx="2852983" cy="1207612"/>
          </a:xfrm>
          <a:prstGeom prst="rect">
            <a:avLst/>
          </a:prstGeom>
        </p:spPr>
      </p:pic>
      <p:sp>
        <p:nvSpPr>
          <p:cNvPr id="4" name="TextBox 3">
            <a:extLst>
              <a:ext uri="{FF2B5EF4-FFF2-40B4-BE49-F238E27FC236}">
                <a16:creationId xmlns:a16="http://schemas.microsoft.com/office/drawing/2014/main" id="{D2C2FB92-DD3C-E12E-A391-E71FBB1F85AF}"/>
              </a:ext>
            </a:extLst>
          </p:cNvPr>
          <p:cNvSpPr txBox="1"/>
          <p:nvPr/>
        </p:nvSpPr>
        <p:spPr>
          <a:xfrm>
            <a:off x="1216233" y="5334001"/>
            <a:ext cx="7532915" cy="954107"/>
          </a:xfrm>
          <a:prstGeom prst="rect">
            <a:avLst/>
          </a:prstGeom>
          <a:noFill/>
        </p:spPr>
        <p:txBody>
          <a:bodyPr wrap="square" rtlCol="0">
            <a:spAutoFit/>
          </a:bodyPr>
          <a:lstStyle/>
          <a:p>
            <a:r>
              <a:rPr lang="en-GB" sz="2800" b="1" dirty="0" err="1"/>
              <a:t>Digitale</a:t>
            </a:r>
            <a:r>
              <a:rPr lang="en-GB" sz="2800" b="1" dirty="0"/>
              <a:t> </a:t>
            </a:r>
            <a:r>
              <a:rPr lang="en-GB" sz="2800" b="1" dirty="0" err="1"/>
              <a:t>historische</a:t>
            </a:r>
            <a:r>
              <a:rPr lang="en-GB" sz="2800" b="1" dirty="0"/>
              <a:t> </a:t>
            </a:r>
            <a:r>
              <a:rPr lang="en-GB" sz="2800" b="1" dirty="0" err="1"/>
              <a:t>Wortforschung</a:t>
            </a:r>
            <a:r>
              <a:rPr lang="en-GB" sz="2800" b="1" dirty="0"/>
              <a:t> (</a:t>
            </a:r>
            <a:r>
              <a:rPr lang="en-GB" sz="2800" b="1" dirty="0" err="1"/>
              <a:t>DhW</a:t>
            </a:r>
            <a:r>
              <a:rPr lang="en-GB" sz="2800" b="1" dirty="0"/>
              <a:t>)</a:t>
            </a:r>
          </a:p>
          <a:p>
            <a:r>
              <a:rPr lang="en-GB" sz="2800" i="1" dirty="0"/>
              <a:t>“Testi e parole in rete: </a:t>
            </a:r>
            <a:r>
              <a:rPr lang="en-GB" sz="2800" i="1" dirty="0" err="1"/>
              <a:t>nuovi</a:t>
            </a:r>
            <a:r>
              <a:rPr lang="en-GB" sz="2800" i="1" dirty="0"/>
              <a:t> </a:t>
            </a:r>
            <a:r>
              <a:rPr lang="en-GB" sz="2800" i="1" dirty="0" err="1"/>
              <a:t>accessi</a:t>
            </a:r>
            <a:r>
              <a:rPr lang="en-GB" sz="2800" i="1" dirty="0"/>
              <a:t> </a:t>
            </a:r>
            <a:r>
              <a:rPr lang="en-GB" sz="2800" i="1" dirty="0" err="1"/>
              <a:t>digitali</a:t>
            </a:r>
            <a:r>
              <a:rPr lang="en-GB" sz="2800" i="1" dirty="0"/>
              <a:t>”</a:t>
            </a:r>
            <a:endParaRPr lang="en-DE" sz="2800" i="1" dirty="0"/>
          </a:p>
        </p:txBody>
      </p:sp>
    </p:spTree>
    <p:extLst>
      <p:ext uri="{BB962C8B-B14F-4D97-AF65-F5344CB8AC3E}">
        <p14:creationId xmlns:p14="http://schemas.microsoft.com/office/powerpoint/2010/main" val="2491871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BFF51-BC64-E077-9174-61A04A66C17A}"/>
              </a:ext>
            </a:extLst>
          </p:cNvPr>
          <p:cNvSpPr>
            <a:spLocks noGrp="1"/>
          </p:cNvSpPr>
          <p:nvPr>
            <p:ph type="title"/>
          </p:nvPr>
        </p:nvSpPr>
        <p:spPr/>
        <p:txBody>
          <a:bodyPr/>
          <a:lstStyle/>
          <a:p>
            <a:r>
              <a:rPr lang="en-DE" dirty="0"/>
              <a:t>outline</a:t>
            </a:r>
          </a:p>
        </p:txBody>
      </p:sp>
      <p:sp>
        <p:nvSpPr>
          <p:cNvPr id="3" name="Content Placeholder 2">
            <a:extLst>
              <a:ext uri="{FF2B5EF4-FFF2-40B4-BE49-F238E27FC236}">
                <a16:creationId xmlns:a16="http://schemas.microsoft.com/office/drawing/2014/main" id="{958E0BAA-9183-C3B4-18B7-05B50706016C}"/>
              </a:ext>
            </a:extLst>
          </p:cNvPr>
          <p:cNvSpPr>
            <a:spLocks noGrp="1"/>
          </p:cNvSpPr>
          <p:nvPr>
            <p:ph sz="quarter" idx="13"/>
          </p:nvPr>
        </p:nvSpPr>
        <p:spPr/>
        <p:txBody>
          <a:bodyPr>
            <a:normAutofit/>
          </a:bodyPr>
          <a:lstStyle/>
          <a:p>
            <a:pPr marL="0" indent="0">
              <a:buNone/>
            </a:pPr>
            <a:endParaRPr lang="en-GB" sz="2400" b="1" cap="none" dirty="0"/>
          </a:p>
          <a:p>
            <a:r>
              <a:rPr lang="en-GB" sz="2400" b="1" cap="none" dirty="0"/>
              <a:t>What is token-based typology</a:t>
            </a:r>
          </a:p>
          <a:p>
            <a:r>
              <a:rPr lang="en-GB" sz="2400" b="1" cap="none" dirty="0"/>
              <a:t>What is </a:t>
            </a:r>
            <a:r>
              <a:rPr lang="en-GB" sz="2400" b="1" cap="none" dirty="0" err="1"/>
              <a:t>miniCIEP</a:t>
            </a:r>
            <a:r>
              <a:rPr lang="en-GB" sz="2400" b="1" cap="none" dirty="0"/>
              <a:t>+</a:t>
            </a:r>
            <a:endParaRPr lang="en-GB" sz="2400" cap="none" dirty="0"/>
          </a:p>
          <a:p>
            <a:r>
              <a:rPr lang="en-GB" sz="2400" b="1" cap="none" dirty="0"/>
              <a:t>A very short introduction to Universal Dependencies (UD)</a:t>
            </a:r>
          </a:p>
          <a:p>
            <a:r>
              <a:rPr lang="en-GB" sz="2400" b="1" cap="none" dirty="0"/>
              <a:t>Experimenting with </a:t>
            </a:r>
            <a:r>
              <a:rPr lang="en-GB" sz="2400" b="1" cap="none" dirty="0" err="1"/>
              <a:t>miniCIEP</a:t>
            </a:r>
            <a:r>
              <a:rPr lang="en-GB" sz="2400" b="1" cap="none" dirty="0"/>
              <a:t>+</a:t>
            </a:r>
            <a:endParaRPr lang="en-GB" sz="2400" cap="none" dirty="0"/>
          </a:p>
        </p:txBody>
      </p:sp>
    </p:spTree>
    <p:extLst>
      <p:ext uri="{BB962C8B-B14F-4D97-AF65-F5344CB8AC3E}">
        <p14:creationId xmlns:p14="http://schemas.microsoft.com/office/powerpoint/2010/main" val="4217434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E5575-0A69-E83D-677B-5214A8BA1777}"/>
              </a:ext>
            </a:extLst>
          </p:cNvPr>
          <p:cNvSpPr>
            <a:spLocks noGrp="1"/>
          </p:cNvSpPr>
          <p:nvPr>
            <p:ph type="title"/>
          </p:nvPr>
        </p:nvSpPr>
        <p:spPr/>
        <p:txBody>
          <a:bodyPr/>
          <a:lstStyle/>
          <a:p>
            <a:r>
              <a:rPr lang="en-GB" dirty="0"/>
              <a:t>Corpus linguistics meet typology: T</a:t>
            </a:r>
            <a:r>
              <a:rPr lang="en-DE" dirty="0"/>
              <a:t>oken-based typology</a:t>
            </a:r>
          </a:p>
        </p:txBody>
      </p:sp>
      <p:sp>
        <p:nvSpPr>
          <p:cNvPr id="3" name="Content Placeholder 2">
            <a:extLst>
              <a:ext uri="{FF2B5EF4-FFF2-40B4-BE49-F238E27FC236}">
                <a16:creationId xmlns:a16="http://schemas.microsoft.com/office/drawing/2014/main" id="{EFB9C264-1D1D-5EAA-8AE9-4BED16BE13B9}"/>
              </a:ext>
            </a:extLst>
          </p:cNvPr>
          <p:cNvSpPr>
            <a:spLocks noGrp="1"/>
          </p:cNvSpPr>
          <p:nvPr>
            <p:ph sz="quarter" idx="13"/>
          </p:nvPr>
        </p:nvSpPr>
        <p:spPr/>
        <p:txBody>
          <a:bodyPr>
            <a:normAutofit fontScale="85000" lnSpcReduction="20000"/>
          </a:bodyPr>
          <a:lstStyle/>
          <a:p>
            <a:r>
              <a:rPr lang="en-DE" cap="none" dirty="0"/>
              <a:t>A (relatively) new way to do </a:t>
            </a:r>
            <a:r>
              <a:rPr lang="en-DE" b="1" cap="none" dirty="0"/>
              <a:t>linguistic typology </a:t>
            </a:r>
            <a:r>
              <a:rPr lang="en-DE" cap="none" dirty="0"/>
              <a:t>(Naranjo &amp; Becker 2018; Levshina 2019, 2021; Talamo &amp; Verkerk 2022; Levshina et al. 2023; but </a:t>
            </a:r>
            <a:r>
              <a:rPr lang="en-GB" cap="none" dirty="0" err="1"/>
              <a:t>Wälchli</a:t>
            </a:r>
            <a:r>
              <a:rPr lang="en-GB" cap="none" dirty="0"/>
              <a:t> </a:t>
            </a:r>
            <a:r>
              <a:rPr lang="en-DE" cap="none" dirty="0"/>
              <a:t> &amp; </a:t>
            </a:r>
            <a:r>
              <a:rPr lang="en-GB" cap="none" dirty="0" err="1"/>
              <a:t>Cysouw</a:t>
            </a:r>
            <a:r>
              <a:rPr lang="en-GB" cap="none" dirty="0"/>
              <a:t> 2012!)</a:t>
            </a:r>
          </a:p>
          <a:p>
            <a:pPr marL="0" indent="0">
              <a:buNone/>
            </a:pPr>
            <a:r>
              <a:rPr lang="en-GB" cap="none" dirty="0"/>
              <a:t>“In most typological research, languages have been treated as single data points with a categorical value (e.g. OV or VO, prepositional or postpositional). The overwhelming majority of typological universals […] are of this type. I will refer to this approach as </a:t>
            </a:r>
            <a:r>
              <a:rPr lang="en-GB" b="1" cap="none" dirty="0"/>
              <a:t>type-based</a:t>
            </a:r>
            <a:r>
              <a:rPr lang="en-GB" cap="none" dirty="0"/>
              <a:t>. In contrast, </a:t>
            </a:r>
            <a:r>
              <a:rPr lang="en-GB" b="1" cap="none" dirty="0"/>
              <a:t>token-based typology</a:t>
            </a:r>
            <a:r>
              <a:rPr lang="en-GB" cap="none" dirty="0"/>
              <a:t> makes generalizations and classifies languages using the tokens of specific linguistic units or structures observed in language use, as approximated by corpora.” (</a:t>
            </a:r>
            <a:r>
              <a:rPr lang="en-GB" cap="none" dirty="0" err="1"/>
              <a:t>Levshina</a:t>
            </a:r>
            <a:r>
              <a:rPr lang="en-GB" cap="none" dirty="0"/>
              <a:t> 2019)</a:t>
            </a:r>
          </a:p>
          <a:p>
            <a:pPr marL="0" indent="0">
              <a:buNone/>
            </a:pPr>
            <a:r>
              <a:rPr lang="en-GB" cap="none" dirty="0"/>
              <a:t>But not only corpora:</a:t>
            </a:r>
          </a:p>
          <a:p>
            <a:pPr marL="0" indent="0">
              <a:buNone/>
            </a:pPr>
            <a:r>
              <a:rPr lang="en-GB" cap="none" dirty="0"/>
              <a:t>“Examples of such token-based comparative concepts are </a:t>
            </a:r>
            <a:r>
              <a:rPr lang="en-GB" b="1" cap="none" dirty="0"/>
              <a:t>visual stimuli</a:t>
            </a:r>
            <a:r>
              <a:rPr lang="en-GB" cap="none" dirty="0"/>
              <a:t>, as employed in much recent research on semantic typology, as well as </a:t>
            </a:r>
            <a:r>
              <a:rPr lang="en-GB" b="1" cap="none" dirty="0"/>
              <a:t>translation contexts</a:t>
            </a:r>
            <a:r>
              <a:rPr lang="en-GB" cap="none" dirty="0"/>
              <a:t>, as employed by </a:t>
            </a:r>
            <a:r>
              <a:rPr lang="en-GB" b="1" cap="none" dirty="0"/>
              <a:t>questionnaire-based studies</a:t>
            </a:r>
            <a:r>
              <a:rPr lang="en-GB" cap="none" dirty="0"/>
              <a:t> and in parallel text typology“ (</a:t>
            </a:r>
            <a:r>
              <a:rPr lang="en-GB" cap="none" dirty="0" err="1"/>
              <a:t>Haspelmath</a:t>
            </a:r>
            <a:r>
              <a:rPr lang="en-GB" cap="none" dirty="0"/>
              <a:t> 2018)</a:t>
            </a:r>
          </a:p>
          <a:p>
            <a:pPr marL="0" indent="0">
              <a:buNone/>
            </a:pPr>
            <a:endParaRPr lang="en-GB" cap="none" dirty="0"/>
          </a:p>
          <a:p>
            <a:pPr marL="0" indent="0">
              <a:buNone/>
            </a:pPr>
            <a:endParaRPr lang="en-GB" cap="none" dirty="0"/>
          </a:p>
          <a:p>
            <a:pPr marL="0" indent="0">
              <a:buNone/>
            </a:pPr>
            <a:endParaRPr lang="en-GB" cap="none" dirty="0"/>
          </a:p>
          <a:p>
            <a:pPr marL="0" indent="0">
              <a:buNone/>
            </a:pPr>
            <a:endParaRPr lang="en-DE" cap="none" dirty="0"/>
          </a:p>
        </p:txBody>
      </p:sp>
    </p:spTree>
    <p:extLst>
      <p:ext uri="{BB962C8B-B14F-4D97-AF65-F5344CB8AC3E}">
        <p14:creationId xmlns:p14="http://schemas.microsoft.com/office/powerpoint/2010/main" val="3454205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1B909-F600-8E23-29C8-7FA88CF58AE2}"/>
              </a:ext>
            </a:extLst>
          </p:cNvPr>
          <p:cNvSpPr>
            <a:spLocks noGrp="1"/>
          </p:cNvSpPr>
          <p:nvPr>
            <p:ph type="title"/>
          </p:nvPr>
        </p:nvSpPr>
        <p:spPr>
          <a:xfrm>
            <a:off x="913774" y="2630911"/>
            <a:ext cx="10364451" cy="1596177"/>
          </a:xfrm>
        </p:spPr>
        <p:txBody>
          <a:bodyPr/>
          <a:lstStyle/>
          <a:p>
            <a:r>
              <a:rPr lang="en-GB" dirty="0"/>
              <a:t>W</a:t>
            </a:r>
            <a:r>
              <a:rPr lang="en-DE" dirty="0"/>
              <a:t>hat is miniciep?</a:t>
            </a:r>
          </a:p>
        </p:txBody>
      </p:sp>
    </p:spTree>
    <p:extLst>
      <p:ext uri="{BB962C8B-B14F-4D97-AF65-F5344CB8AC3E}">
        <p14:creationId xmlns:p14="http://schemas.microsoft.com/office/powerpoint/2010/main" val="569546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abbit wearing a suit and holding a stick&#10;&#10;AI-generated content may be incorrect.">
            <a:extLst>
              <a:ext uri="{FF2B5EF4-FFF2-40B4-BE49-F238E27FC236}">
                <a16:creationId xmlns:a16="http://schemas.microsoft.com/office/drawing/2014/main" id="{760E20AA-2827-1251-2FC0-3EB8A74345DB}"/>
              </a:ext>
            </a:extLst>
          </p:cNvPr>
          <p:cNvPicPr>
            <a:picLocks noChangeAspect="1"/>
          </p:cNvPicPr>
          <p:nvPr/>
        </p:nvPicPr>
        <p:blipFill>
          <a:blip r:embed="rId3"/>
          <a:srcRect l="579" r="579"/>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F51961D-40D9-C75B-7DA9-05F124340573}"/>
              </a:ext>
            </a:extLst>
          </p:cNvPr>
          <p:cNvSpPr>
            <a:spLocks noGrp="1"/>
          </p:cNvSpPr>
          <p:nvPr>
            <p:ph type="title"/>
          </p:nvPr>
        </p:nvSpPr>
        <p:spPr>
          <a:xfrm>
            <a:off x="4465050" y="618517"/>
            <a:ext cx="6672886" cy="1596177"/>
          </a:xfrm>
        </p:spPr>
        <p:txBody>
          <a:bodyPr>
            <a:normAutofit/>
          </a:bodyPr>
          <a:lstStyle/>
          <a:p>
            <a:br>
              <a:rPr lang="en-DE" dirty="0"/>
            </a:br>
            <a:r>
              <a:rPr lang="en-DE" dirty="0"/>
              <a:t>A sharable parallel corpus of prose</a:t>
            </a:r>
          </a:p>
        </p:txBody>
      </p:sp>
      <p:sp>
        <p:nvSpPr>
          <p:cNvPr id="3" name="Content Placeholder 2">
            <a:extLst>
              <a:ext uri="{FF2B5EF4-FFF2-40B4-BE49-F238E27FC236}">
                <a16:creationId xmlns:a16="http://schemas.microsoft.com/office/drawing/2014/main" id="{875EC164-AC92-4485-2D77-02DA7A072140}"/>
              </a:ext>
            </a:extLst>
          </p:cNvPr>
          <p:cNvSpPr>
            <a:spLocks noGrp="1"/>
          </p:cNvSpPr>
          <p:nvPr>
            <p:ph sz="quarter" idx="13"/>
          </p:nvPr>
        </p:nvSpPr>
        <p:spPr>
          <a:xfrm>
            <a:off x="4465048" y="2367092"/>
            <a:ext cx="6672887" cy="4119972"/>
          </a:xfrm>
        </p:spPr>
        <p:txBody>
          <a:bodyPr>
            <a:normAutofit fontScale="55000" lnSpcReduction="20000"/>
          </a:bodyPr>
          <a:lstStyle/>
          <a:p>
            <a:pPr>
              <a:lnSpc>
                <a:spcPct val="110000"/>
              </a:lnSpc>
              <a:buFont typeface="System Font Regular"/>
              <a:buChar char="&gt;"/>
            </a:pPr>
            <a:endParaRPr lang="en-GB" sz="2900" dirty="0"/>
          </a:p>
          <a:p>
            <a:pPr>
              <a:lnSpc>
                <a:spcPct val="110000"/>
              </a:lnSpc>
              <a:buFont typeface="System Font Regular"/>
              <a:buChar char="&gt;"/>
            </a:pPr>
            <a:r>
              <a:rPr lang="en-GB" sz="2900" cap="none" dirty="0"/>
              <a:t>Started at Saarland University in Autumn 2019 – Credits: Annemarie </a:t>
            </a:r>
            <a:r>
              <a:rPr lang="en-GB" sz="2900" cap="none" dirty="0" err="1"/>
              <a:t>Verkerk</a:t>
            </a:r>
            <a:r>
              <a:rPr lang="en-GB" sz="2900" cap="none" dirty="0"/>
              <a:t> (PI), Luigi Talamo (Post Doc) and Andrew Dyer (PhD candidate) - </a:t>
            </a:r>
            <a:r>
              <a:rPr lang="en-GB" sz="2900" cap="none" dirty="0" err="1"/>
              <a:t>Verkerk</a:t>
            </a:r>
            <a:r>
              <a:rPr lang="en-GB" sz="2900" cap="none" dirty="0"/>
              <a:t> &amp; Talamo 2024</a:t>
            </a:r>
          </a:p>
          <a:p>
            <a:pPr>
              <a:lnSpc>
                <a:spcPct val="110000"/>
              </a:lnSpc>
              <a:buFont typeface="System Font Regular"/>
              <a:buChar char="&gt;"/>
            </a:pPr>
            <a:r>
              <a:rPr lang="en-GB" sz="2900" cap="none" dirty="0"/>
              <a:t>Derivative of CIEP+; the Corpus of Indo-European Prose Plus /</a:t>
            </a:r>
            <a:r>
              <a:rPr lang="en-GB" sz="2900" cap="none" dirty="0" err="1"/>
              <a:t>kiːp</a:t>
            </a:r>
            <a:r>
              <a:rPr lang="en-GB" sz="2900" cap="none" dirty="0"/>
              <a:t> </a:t>
            </a:r>
            <a:r>
              <a:rPr lang="en-GB" sz="2900" cap="none" dirty="0" err="1"/>
              <a:t>plʌs</a:t>
            </a:r>
            <a:r>
              <a:rPr lang="en-GB" sz="2900" cap="none" dirty="0"/>
              <a:t>/</a:t>
            </a:r>
          </a:p>
          <a:p>
            <a:pPr>
              <a:lnSpc>
                <a:spcPct val="110000"/>
              </a:lnSpc>
              <a:buFont typeface="System Font Regular"/>
              <a:buChar char="&gt;"/>
            </a:pPr>
            <a:r>
              <a:rPr lang="en-GB" sz="2900" cap="none" dirty="0"/>
              <a:t>Contents: contains about 14% of 10 frequently translated literary works</a:t>
            </a:r>
          </a:p>
          <a:p>
            <a:pPr>
              <a:lnSpc>
                <a:spcPct val="110000"/>
              </a:lnSpc>
              <a:buFont typeface="System Font Regular"/>
              <a:buChar char="&gt;"/>
            </a:pPr>
            <a:r>
              <a:rPr lang="en-GB" sz="2900" cap="none" dirty="0"/>
              <a:t>Language sample: 35 Indo-European (</a:t>
            </a:r>
            <a:r>
              <a:rPr lang="en-GB" sz="2900" b="1" cap="none" dirty="0"/>
              <a:t>5 Romance languages)</a:t>
            </a:r>
            <a:r>
              <a:rPr lang="en-GB" sz="2900" cap="none" dirty="0"/>
              <a:t>; 15 non-IE languages</a:t>
            </a:r>
          </a:p>
          <a:p>
            <a:pPr>
              <a:lnSpc>
                <a:spcPct val="110000"/>
              </a:lnSpc>
              <a:buFont typeface="System Font Regular"/>
              <a:buChar char="&gt;"/>
            </a:pPr>
            <a:r>
              <a:rPr lang="en-GB" sz="2900" cap="none" dirty="0"/>
              <a:t>Size: </a:t>
            </a:r>
            <a:r>
              <a:rPr lang="en-GB" sz="2900" cap="none" dirty="0" err="1"/>
              <a:t>subcorpora</a:t>
            </a:r>
            <a:r>
              <a:rPr lang="en-GB" sz="2900" cap="none" dirty="0"/>
              <a:t> typically ~ 5750 sentences and up to 125K tokens</a:t>
            </a:r>
          </a:p>
          <a:p>
            <a:pPr>
              <a:lnSpc>
                <a:spcPct val="110000"/>
              </a:lnSpc>
              <a:buFont typeface="System Font Regular"/>
              <a:buChar char="&gt;"/>
            </a:pPr>
            <a:r>
              <a:rPr lang="en-GB" sz="2900" cap="none" dirty="0"/>
              <a:t>Annotation in the Universal Dependencies format + information status</a:t>
            </a:r>
          </a:p>
          <a:p>
            <a:pPr>
              <a:lnSpc>
                <a:spcPct val="110000"/>
              </a:lnSpc>
              <a:buFont typeface="System Font Regular"/>
              <a:buChar char="&gt;"/>
            </a:pPr>
            <a:r>
              <a:rPr lang="en-GB" sz="2900" cap="none" dirty="0"/>
              <a:t>Sharable: we offer considerations of German law as to what constitutes “a select group of people”</a:t>
            </a:r>
          </a:p>
          <a:p>
            <a:pPr>
              <a:lnSpc>
                <a:spcPct val="110000"/>
              </a:lnSpc>
              <a:buFont typeface="System Font Regular"/>
              <a:buChar char="&gt;"/>
            </a:pPr>
            <a:r>
              <a:rPr lang="en-GB" sz="2900" cap="none" dirty="0"/>
              <a:t>Status: mini-CIEP+ v. 1.0 contains 35 languages</a:t>
            </a:r>
            <a:endParaRPr lang="en-GB" sz="2900" dirty="0"/>
          </a:p>
          <a:p>
            <a:pPr marL="0" indent="0">
              <a:lnSpc>
                <a:spcPct val="110000"/>
              </a:lnSpc>
              <a:buNone/>
            </a:pPr>
            <a:endParaRPr lang="en-GB" sz="1600" dirty="0"/>
          </a:p>
          <a:p>
            <a:pPr>
              <a:lnSpc>
                <a:spcPct val="110000"/>
              </a:lnSpc>
              <a:buFont typeface="System Font Regular"/>
              <a:buChar char="&gt;"/>
            </a:pPr>
            <a:endParaRPr lang="en-GB" sz="1600" dirty="0"/>
          </a:p>
          <a:p>
            <a:pPr>
              <a:lnSpc>
                <a:spcPct val="110000"/>
              </a:lnSpc>
              <a:buFont typeface="System Font Regular"/>
              <a:buChar char="&gt;"/>
            </a:pPr>
            <a:endParaRPr lang="en-GB" sz="1600" dirty="0"/>
          </a:p>
          <a:p>
            <a:pPr marL="0" indent="0">
              <a:lnSpc>
                <a:spcPct val="110000"/>
              </a:lnSpc>
              <a:buNone/>
            </a:pPr>
            <a:endParaRPr lang="en-DE" sz="1600" dirty="0"/>
          </a:p>
        </p:txBody>
      </p:sp>
    </p:spTree>
    <p:extLst>
      <p:ext uri="{BB962C8B-B14F-4D97-AF65-F5344CB8AC3E}">
        <p14:creationId xmlns:p14="http://schemas.microsoft.com/office/powerpoint/2010/main" val="2708452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6B046-4192-C2FF-1A2F-F6A903414824}"/>
              </a:ext>
            </a:extLst>
          </p:cNvPr>
          <p:cNvSpPr>
            <a:spLocks noGrp="1"/>
          </p:cNvSpPr>
          <p:nvPr>
            <p:ph type="title"/>
          </p:nvPr>
        </p:nvSpPr>
        <p:spPr>
          <a:xfrm>
            <a:off x="913775" y="618518"/>
            <a:ext cx="10364451" cy="1037426"/>
          </a:xfrm>
        </p:spPr>
        <p:txBody>
          <a:bodyPr/>
          <a:lstStyle/>
          <a:p>
            <a:r>
              <a:rPr lang="en-GB" dirty="0"/>
              <a:t>W</a:t>
            </a:r>
            <a:r>
              <a:rPr lang="en-DE" dirty="0"/>
              <a:t>hat’s inside</a:t>
            </a:r>
          </a:p>
        </p:txBody>
      </p:sp>
      <p:pic>
        <p:nvPicPr>
          <p:cNvPr id="4" name="Picture 3">
            <a:extLst>
              <a:ext uri="{FF2B5EF4-FFF2-40B4-BE49-F238E27FC236}">
                <a16:creationId xmlns:a16="http://schemas.microsoft.com/office/drawing/2014/main" id="{0EAF6179-EF65-AA97-A77A-9DE2ED2242C7}"/>
              </a:ext>
            </a:extLst>
          </p:cNvPr>
          <p:cNvPicPr>
            <a:picLocks noChangeAspect="1"/>
          </p:cNvPicPr>
          <p:nvPr/>
        </p:nvPicPr>
        <p:blipFill>
          <a:blip r:embed="rId3"/>
          <a:stretch>
            <a:fillRect/>
          </a:stretch>
        </p:blipFill>
        <p:spPr>
          <a:xfrm>
            <a:off x="913774" y="1655943"/>
            <a:ext cx="4376468" cy="4987756"/>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C3F1997D-084E-978E-FC85-3C6DC3AC29F0}"/>
              </a:ext>
            </a:extLst>
          </p:cNvPr>
          <p:cNvPicPr>
            <a:picLocks noChangeAspect="1"/>
          </p:cNvPicPr>
          <p:nvPr/>
        </p:nvPicPr>
        <p:blipFill>
          <a:blip r:embed="rId4"/>
          <a:stretch>
            <a:fillRect/>
          </a:stretch>
        </p:blipFill>
        <p:spPr>
          <a:xfrm>
            <a:off x="6096000" y="1655943"/>
            <a:ext cx="5104632" cy="49877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14222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4E42714-2B2E-134A-AB94-FA2B0F419087}"/>
              </a:ext>
            </a:extLst>
          </p:cNvPr>
          <p:cNvSpPr txBox="1">
            <a:spLocks/>
          </p:cNvSpPr>
          <p:nvPr/>
        </p:nvSpPr>
        <p:spPr bwMode="auto">
          <a:xfrm>
            <a:off x="706780" y="933543"/>
            <a:ext cx="10972799" cy="5539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3D901C"/>
              </a:buClr>
              <a:buFont typeface="Arial" charset="0"/>
              <a:buChar char="•"/>
              <a:defRPr sz="2800" kern="1200" baseline="0">
                <a:solidFill>
                  <a:schemeClr val="tx1"/>
                </a:solidFill>
                <a:latin typeface="Calibri" panose="020F0502020204030204" pitchFamily="34" charset="0"/>
                <a:ea typeface="ＭＳ Ｐゴシック" charset="0"/>
                <a:cs typeface="Arial" panose="020B0604020202020204" pitchFamily="34" charset="0"/>
              </a:defRPr>
            </a:lvl1pPr>
            <a:lvl2pPr marL="742950" indent="-285750" algn="l" defTabSz="457200" rtl="0" eaLnBrk="1" fontAlgn="base" hangingPunct="1">
              <a:spcBef>
                <a:spcPct val="20000"/>
              </a:spcBef>
              <a:spcAft>
                <a:spcPct val="0"/>
              </a:spcAft>
              <a:buClr>
                <a:srgbClr val="3D901C"/>
              </a:buClr>
              <a:buFont typeface="Wingdings" panose="05000000000000000000" pitchFamily="2" charset="2"/>
              <a:buChar char="§"/>
              <a:defRPr sz="2400" kern="1200" baseline="0">
                <a:solidFill>
                  <a:schemeClr val="tx1"/>
                </a:solidFill>
                <a:latin typeface="Calibri" panose="020F0502020204030204" pitchFamily="34" charset="0"/>
                <a:ea typeface="ＭＳ Ｐゴシック" charset="0"/>
                <a:cs typeface="Arial" panose="020B0604020202020204" pitchFamily="34" charset="0"/>
              </a:defRPr>
            </a:lvl2pPr>
            <a:lvl3pPr marL="1143000" indent="-228600" algn="l" defTabSz="457200" rtl="0" eaLnBrk="1" fontAlgn="base" hangingPunct="1">
              <a:spcBef>
                <a:spcPct val="20000"/>
              </a:spcBef>
              <a:spcAft>
                <a:spcPct val="0"/>
              </a:spcAft>
              <a:buClr>
                <a:srgbClr val="3D901C"/>
              </a:buClr>
              <a:buFont typeface="Arial" charset="0"/>
              <a:buChar char="•"/>
              <a:defRPr sz="2000" kern="1200" baseline="0">
                <a:solidFill>
                  <a:schemeClr val="tx1"/>
                </a:solidFill>
                <a:latin typeface="Calibri" panose="020F0502020204030204" pitchFamily="34" charset="0"/>
                <a:ea typeface="ＭＳ Ｐゴシック" charset="0"/>
                <a:cs typeface="Arial" panose="020B0604020202020204" pitchFamily="34" charset="0"/>
              </a:defRPr>
            </a:lvl3pPr>
            <a:lvl4pPr marL="1600200" indent="-228600" algn="l" defTabSz="457200" rtl="0" eaLnBrk="1" fontAlgn="base" hangingPunct="1">
              <a:spcBef>
                <a:spcPct val="20000"/>
              </a:spcBef>
              <a:spcAft>
                <a:spcPct val="0"/>
              </a:spcAft>
              <a:buClr>
                <a:srgbClr val="3D901C"/>
              </a:buClr>
              <a:buFont typeface="Arial" charset="0"/>
              <a:buChar char="–"/>
              <a:defRPr sz="1800" kern="1200" baseline="0">
                <a:solidFill>
                  <a:schemeClr val="tx1"/>
                </a:solidFill>
                <a:latin typeface="Calibri" panose="020F0502020204030204" pitchFamily="34" charset="0"/>
                <a:ea typeface="ＭＳ Ｐゴシック" charset="0"/>
                <a:cs typeface="Arial" panose="020B0604020202020204" pitchFamily="34" charset="0"/>
              </a:defRPr>
            </a:lvl4pPr>
            <a:lvl5pPr marL="2057400" indent="-228600" algn="l" defTabSz="457200" rtl="0" eaLnBrk="1" fontAlgn="base" hangingPunct="1">
              <a:spcBef>
                <a:spcPct val="20000"/>
              </a:spcBef>
              <a:spcAft>
                <a:spcPct val="0"/>
              </a:spcAft>
              <a:buClr>
                <a:srgbClr val="3D901C"/>
              </a:buClr>
              <a:buFont typeface="Arial" charset="0"/>
              <a:buChar char="»"/>
              <a:defRPr sz="1800" kern="1200" baseline="0">
                <a:solidFill>
                  <a:schemeClr val="tx1"/>
                </a:solidFill>
                <a:latin typeface="Calibri" panose="020F0502020204030204" pitchFamily="34" charset="0"/>
                <a:ea typeface="ＭＳ Ｐゴシック" charset="0"/>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charset="0"/>
              <a:buNone/>
            </a:pPr>
            <a:endParaRPr lang="de-DE" sz="2300">
              <a:solidFill>
                <a:srgbClr val="3D901C"/>
              </a:solidFill>
              <a:latin typeface="+mj-lt"/>
            </a:endParaRPr>
          </a:p>
        </p:txBody>
      </p:sp>
      <p:sp>
        <p:nvSpPr>
          <p:cNvPr id="2" name="Title 1">
            <a:extLst>
              <a:ext uri="{FF2B5EF4-FFF2-40B4-BE49-F238E27FC236}">
                <a16:creationId xmlns:a16="http://schemas.microsoft.com/office/drawing/2014/main" id="{F786551E-F43A-4D24-992E-E2545B3ADCA4}"/>
              </a:ext>
            </a:extLst>
          </p:cNvPr>
          <p:cNvSpPr>
            <a:spLocks noGrp="1"/>
          </p:cNvSpPr>
          <p:nvPr>
            <p:ph type="title"/>
          </p:nvPr>
        </p:nvSpPr>
        <p:spPr/>
        <p:txBody>
          <a:bodyPr>
            <a:normAutofit/>
          </a:bodyPr>
          <a:lstStyle/>
          <a:p>
            <a:r>
              <a:rPr lang="en-GB" sz="3600" b="0" dirty="0">
                <a:solidFill>
                  <a:schemeClr val="tx1"/>
                </a:solidFill>
                <a:latin typeface="+mj-lt"/>
                <a:ea typeface="ＭＳ Ｐゴシック"/>
                <a:cs typeface="Arial"/>
              </a:rPr>
              <a:t>What you get (and how we did it)</a:t>
            </a:r>
            <a:endParaRPr lang="en-GB" sz="3600" b="0" dirty="0">
              <a:solidFill>
                <a:schemeClr val="tx1"/>
              </a:solidFill>
              <a:latin typeface="+mj-lt"/>
            </a:endParaRPr>
          </a:p>
        </p:txBody>
      </p:sp>
      <p:pic>
        <p:nvPicPr>
          <p:cNvPr id="12" name="Picture 11">
            <a:extLst>
              <a:ext uri="{FF2B5EF4-FFF2-40B4-BE49-F238E27FC236}">
                <a16:creationId xmlns:a16="http://schemas.microsoft.com/office/drawing/2014/main" id="{CFD6433A-6AB2-8446-B2EE-E6C019478361}"/>
              </a:ext>
            </a:extLst>
          </p:cNvPr>
          <p:cNvPicPr>
            <a:picLocks noChangeAspect="1"/>
          </p:cNvPicPr>
          <p:nvPr/>
        </p:nvPicPr>
        <p:blipFill>
          <a:blip r:embed="rId3"/>
          <a:stretch>
            <a:fillRect/>
          </a:stretch>
        </p:blipFill>
        <p:spPr>
          <a:xfrm>
            <a:off x="824751" y="1547159"/>
            <a:ext cx="1290171" cy="1290171"/>
          </a:xfrm>
          <a:prstGeom prst="rect">
            <a:avLst/>
          </a:prstGeom>
        </p:spPr>
      </p:pic>
      <p:cxnSp>
        <p:nvCxnSpPr>
          <p:cNvPr id="14" name="Straight Connector 13">
            <a:extLst>
              <a:ext uri="{FF2B5EF4-FFF2-40B4-BE49-F238E27FC236}">
                <a16:creationId xmlns:a16="http://schemas.microsoft.com/office/drawing/2014/main" id="{6629F455-6056-4B43-9D9A-BA1732D9CC34}"/>
              </a:ext>
            </a:extLst>
          </p:cNvPr>
          <p:cNvCxnSpPr>
            <a:cxnSpLocks/>
          </p:cNvCxnSpPr>
          <p:nvPr/>
        </p:nvCxnSpPr>
        <p:spPr>
          <a:xfrm>
            <a:off x="706780" y="3550706"/>
            <a:ext cx="10972799" cy="0"/>
          </a:xfrm>
          <a:prstGeom prst="line">
            <a:avLst/>
          </a:prstGeom>
          <a:ln w="3175">
            <a:solidFill>
              <a:srgbClr val="3D901C"/>
            </a:solidFill>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BF877FAC-1659-4E42-A8E7-D1C4C7B3C9E6}"/>
              </a:ext>
            </a:extLst>
          </p:cNvPr>
          <p:cNvSpPr txBox="1"/>
          <p:nvPr/>
        </p:nvSpPr>
        <p:spPr>
          <a:xfrm>
            <a:off x="921929" y="2965627"/>
            <a:ext cx="1109599" cy="369332"/>
          </a:xfrm>
          <a:prstGeom prst="rect">
            <a:avLst/>
          </a:prstGeom>
          <a:noFill/>
        </p:spPr>
        <p:txBody>
          <a:bodyPr wrap="none" rtlCol="0">
            <a:spAutoFit/>
          </a:bodyPr>
          <a:lstStyle/>
          <a:p>
            <a:r>
              <a:rPr lang="en-GB">
                <a:latin typeface="+mj-lt"/>
              </a:rPr>
              <a:t>Metadata</a:t>
            </a:r>
          </a:p>
        </p:txBody>
      </p:sp>
      <p:sp>
        <p:nvSpPr>
          <p:cNvPr id="20" name="TextBox 19">
            <a:extLst>
              <a:ext uri="{FF2B5EF4-FFF2-40B4-BE49-F238E27FC236}">
                <a16:creationId xmlns:a16="http://schemas.microsoft.com/office/drawing/2014/main" id="{9E21B523-D0A1-7B45-BB44-46166DEF9092}"/>
              </a:ext>
            </a:extLst>
          </p:cNvPr>
          <p:cNvSpPr txBox="1"/>
          <p:nvPr/>
        </p:nvSpPr>
        <p:spPr>
          <a:xfrm>
            <a:off x="2664998" y="1538875"/>
            <a:ext cx="2050622" cy="1338828"/>
          </a:xfrm>
          <a:prstGeom prst="rect">
            <a:avLst/>
          </a:prstGeom>
          <a:solidFill>
            <a:schemeClr val="bg1">
              <a:lumMod val="85000"/>
            </a:schemeClr>
          </a:solidFill>
        </p:spPr>
        <p:txBody>
          <a:bodyPr wrap="square" rtlCol="0">
            <a:spAutoFit/>
          </a:bodyPr>
          <a:lstStyle/>
          <a:p>
            <a:r>
              <a:rPr lang="en-GB" sz="900" dirty="0">
                <a:latin typeface="+mj-lt"/>
                <a:cs typeface="Courier New" panose="02070309020205020404" pitchFamily="49" charset="0"/>
              </a:rPr>
              <a:t># </a:t>
            </a:r>
            <a:r>
              <a:rPr lang="en-GB" sz="900" dirty="0" err="1">
                <a:latin typeface="+mj-lt"/>
                <a:cs typeface="Courier New" panose="02070309020205020404" pitchFamily="49" charset="0"/>
              </a:rPr>
              <a:t>sent_id</a:t>
            </a:r>
            <a:r>
              <a:rPr lang="en-GB" sz="900" dirty="0">
                <a:latin typeface="+mj-lt"/>
                <a:cs typeface="Courier New" panose="02070309020205020404" pitchFamily="49" charset="0"/>
              </a:rPr>
              <a:t> = 13</a:t>
            </a:r>
          </a:p>
          <a:p>
            <a:r>
              <a:rPr lang="en-GB" sz="900" dirty="0">
                <a:latin typeface="+mj-lt"/>
                <a:cs typeface="Courier New" panose="02070309020205020404" pitchFamily="49" charset="0"/>
              </a:rPr>
              <a:t># text = Die </a:t>
            </a:r>
            <a:r>
              <a:rPr lang="en-GB" sz="900" dirty="0" err="1">
                <a:latin typeface="+mj-lt"/>
                <a:cs typeface="Courier New" panose="02070309020205020404" pitchFamily="49" charset="0"/>
              </a:rPr>
              <a:t>Glastür</a:t>
            </a:r>
            <a:r>
              <a:rPr lang="en-GB" sz="900" dirty="0">
                <a:latin typeface="+mj-lt"/>
                <a:cs typeface="Courier New" panose="02070309020205020404" pitchFamily="49" charset="0"/>
              </a:rPr>
              <a:t> </a:t>
            </a:r>
          </a:p>
          <a:p>
            <a:r>
              <a:rPr lang="en-GB" sz="900" dirty="0">
                <a:latin typeface="+mj-lt"/>
                <a:cs typeface="Courier New" panose="02070309020205020404" pitchFamily="49" charset="0"/>
              </a:rPr>
              <a:t>1	Die	der	DET	</a:t>
            </a:r>
          </a:p>
          <a:p>
            <a:r>
              <a:rPr lang="en-GB" sz="900" dirty="0">
                <a:latin typeface="+mj-lt"/>
                <a:cs typeface="Courier New" panose="02070309020205020404" pitchFamily="49" charset="0"/>
              </a:rPr>
              <a:t>2	</a:t>
            </a:r>
            <a:r>
              <a:rPr lang="en-GB" sz="900" dirty="0" err="1">
                <a:latin typeface="+mj-lt"/>
                <a:cs typeface="Courier New" panose="02070309020205020404" pitchFamily="49" charset="0"/>
              </a:rPr>
              <a:t>Glastür</a:t>
            </a:r>
            <a:r>
              <a:rPr lang="en-GB" sz="900" dirty="0">
                <a:latin typeface="+mj-lt"/>
                <a:cs typeface="Courier New" panose="02070309020205020404" pitchFamily="49" charset="0"/>
              </a:rPr>
              <a:t>	</a:t>
            </a:r>
            <a:r>
              <a:rPr lang="en-GB" sz="900" dirty="0" err="1">
                <a:latin typeface="+mj-lt"/>
                <a:cs typeface="Courier New" panose="02070309020205020404" pitchFamily="49" charset="0"/>
              </a:rPr>
              <a:t>Glastür</a:t>
            </a:r>
            <a:endParaRPr lang="en-GB" sz="900" dirty="0">
              <a:latin typeface="+mj-lt"/>
              <a:cs typeface="Courier New" panose="02070309020205020404" pitchFamily="49" charset="0"/>
            </a:endParaRPr>
          </a:p>
          <a:p>
            <a:r>
              <a:rPr lang="en-GB" sz="900" dirty="0">
                <a:latin typeface="+mj-lt"/>
                <a:cs typeface="Courier New" panose="02070309020205020404" pitchFamily="49" charset="0"/>
              </a:rPr>
              <a:t>3	</a:t>
            </a:r>
            <a:r>
              <a:rPr lang="en-GB" sz="900" dirty="0" err="1">
                <a:latin typeface="+mj-lt"/>
                <a:cs typeface="Courier New" panose="02070309020205020404" pitchFamily="49" charset="0"/>
              </a:rPr>
              <a:t>öffnete</a:t>
            </a:r>
            <a:r>
              <a:rPr lang="en-GB" sz="900" dirty="0">
                <a:latin typeface="+mj-lt"/>
                <a:cs typeface="Courier New" panose="02070309020205020404" pitchFamily="49" charset="0"/>
              </a:rPr>
              <a:t>	</a:t>
            </a:r>
            <a:r>
              <a:rPr lang="en-GB" sz="900" dirty="0" err="1">
                <a:latin typeface="+mj-lt"/>
                <a:cs typeface="Courier New" panose="02070309020205020404" pitchFamily="49" charset="0"/>
              </a:rPr>
              <a:t>öffnen</a:t>
            </a:r>
            <a:endParaRPr lang="en-GB" sz="900" dirty="0">
              <a:latin typeface="+mj-lt"/>
              <a:cs typeface="Courier New" panose="02070309020205020404" pitchFamily="49" charset="0"/>
            </a:endParaRPr>
          </a:p>
          <a:p>
            <a:r>
              <a:rPr lang="en-GB" sz="900" dirty="0">
                <a:latin typeface="+mj-lt"/>
                <a:cs typeface="Courier New" panose="02070309020205020404" pitchFamily="49" charset="0"/>
              </a:rPr>
              <a:t>4	</a:t>
            </a:r>
            <a:r>
              <a:rPr lang="en-GB" sz="900" dirty="0" err="1">
                <a:latin typeface="+mj-lt"/>
                <a:cs typeface="Courier New" panose="02070309020205020404" pitchFamily="49" charset="0"/>
              </a:rPr>
              <a:t>sich</a:t>
            </a:r>
            <a:r>
              <a:rPr lang="en-GB" sz="900" dirty="0">
                <a:latin typeface="+mj-lt"/>
                <a:cs typeface="Courier New" panose="02070309020205020404" pitchFamily="49" charset="0"/>
              </a:rPr>
              <a:t>	</a:t>
            </a:r>
            <a:r>
              <a:rPr lang="en-GB" sz="900" dirty="0" err="1">
                <a:latin typeface="+mj-lt"/>
                <a:cs typeface="Courier New" panose="02070309020205020404" pitchFamily="49" charset="0"/>
              </a:rPr>
              <a:t>er|es|sie</a:t>
            </a:r>
            <a:r>
              <a:rPr lang="en-GB" sz="900" dirty="0">
                <a:latin typeface="+mj-lt"/>
                <a:cs typeface="Courier New" panose="02070309020205020404" pitchFamily="49" charset="0"/>
              </a:rPr>
              <a:t>	</a:t>
            </a:r>
          </a:p>
          <a:p>
            <a:r>
              <a:rPr lang="en-GB" sz="900" dirty="0">
                <a:latin typeface="+mj-lt"/>
                <a:cs typeface="Courier New" panose="02070309020205020404" pitchFamily="49" charset="0"/>
              </a:rPr>
              <a:t>5	,	,	PUNCT	</a:t>
            </a:r>
          </a:p>
          <a:p>
            <a:r>
              <a:rPr lang="en-GB" sz="900" dirty="0">
                <a:latin typeface="+mj-lt"/>
                <a:cs typeface="Courier New" panose="02070309020205020404" pitchFamily="49" charset="0"/>
              </a:rPr>
              <a:t>6	</a:t>
            </a:r>
            <a:r>
              <a:rPr lang="en-GB" sz="900" dirty="0" err="1">
                <a:latin typeface="+mj-lt"/>
                <a:cs typeface="Courier New" panose="02070309020205020404" pitchFamily="49" charset="0"/>
              </a:rPr>
              <a:t>ein</a:t>
            </a:r>
            <a:r>
              <a:rPr lang="en-GB" sz="900" dirty="0">
                <a:latin typeface="+mj-lt"/>
                <a:cs typeface="Courier New" panose="02070309020205020404" pitchFamily="49" charset="0"/>
              </a:rPr>
              <a:t>	</a:t>
            </a:r>
            <a:r>
              <a:rPr lang="en-GB" sz="900" dirty="0" err="1">
                <a:latin typeface="+mj-lt"/>
                <a:cs typeface="Courier New" panose="02070309020205020404" pitchFamily="49" charset="0"/>
              </a:rPr>
              <a:t>ein</a:t>
            </a:r>
            <a:r>
              <a:rPr lang="en-GB" sz="900" dirty="0">
                <a:latin typeface="+mj-lt"/>
                <a:cs typeface="Courier New" panose="02070309020205020404" pitchFamily="49" charset="0"/>
              </a:rPr>
              <a:t>	DET	</a:t>
            </a:r>
          </a:p>
          <a:p>
            <a:r>
              <a:rPr lang="en-GB" sz="900" dirty="0">
                <a:latin typeface="+mj-lt"/>
                <a:cs typeface="Courier New" panose="02070309020205020404" pitchFamily="49" charset="0"/>
              </a:rPr>
              <a:t>7	</a:t>
            </a:r>
            <a:r>
              <a:rPr lang="en-GB" sz="900" dirty="0" err="1">
                <a:latin typeface="+mj-lt"/>
                <a:cs typeface="Courier New" panose="02070309020205020404" pitchFamily="49" charset="0"/>
              </a:rPr>
              <a:t>kleiner</a:t>
            </a:r>
            <a:r>
              <a:rPr lang="en-GB" sz="900" dirty="0">
                <a:latin typeface="+mj-lt"/>
                <a:cs typeface="Courier New" panose="02070309020205020404" pitchFamily="49" charset="0"/>
              </a:rPr>
              <a:t>	</a:t>
            </a:r>
            <a:r>
              <a:rPr lang="en-GB" sz="900" dirty="0" err="1">
                <a:latin typeface="+mj-lt"/>
                <a:cs typeface="Courier New" panose="02070309020205020404" pitchFamily="49" charset="0"/>
              </a:rPr>
              <a:t>klein</a:t>
            </a:r>
            <a:endParaRPr lang="en-GB" sz="900" dirty="0">
              <a:latin typeface="+mj-lt"/>
              <a:cs typeface="Courier New" panose="02070309020205020404" pitchFamily="49" charset="0"/>
            </a:endParaRPr>
          </a:p>
        </p:txBody>
      </p:sp>
      <p:sp>
        <p:nvSpPr>
          <p:cNvPr id="21" name="TextBox 20">
            <a:extLst>
              <a:ext uri="{FF2B5EF4-FFF2-40B4-BE49-F238E27FC236}">
                <a16:creationId xmlns:a16="http://schemas.microsoft.com/office/drawing/2014/main" id="{24C14C2E-E94F-6547-A8A4-0453405CC335}"/>
              </a:ext>
            </a:extLst>
          </p:cNvPr>
          <p:cNvSpPr txBox="1"/>
          <p:nvPr/>
        </p:nvSpPr>
        <p:spPr>
          <a:xfrm>
            <a:off x="2459050" y="2970519"/>
            <a:ext cx="2438681" cy="369332"/>
          </a:xfrm>
          <a:prstGeom prst="rect">
            <a:avLst/>
          </a:prstGeom>
          <a:noFill/>
        </p:spPr>
        <p:txBody>
          <a:bodyPr wrap="none" rtlCol="0">
            <a:spAutoFit/>
          </a:bodyPr>
          <a:lstStyle/>
          <a:p>
            <a:r>
              <a:rPr lang="en-GB">
                <a:latin typeface="+mj-lt"/>
              </a:rPr>
              <a:t>Universal Dependencies</a:t>
            </a:r>
          </a:p>
        </p:txBody>
      </p:sp>
      <p:sp>
        <p:nvSpPr>
          <p:cNvPr id="22" name="TextBox 21">
            <a:extLst>
              <a:ext uri="{FF2B5EF4-FFF2-40B4-BE49-F238E27FC236}">
                <a16:creationId xmlns:a16="http://schemas.microsoft.com/office/drawing/2014/main" id="{CF10924D-04CD-9746-8D0C-BB1C783869C5}"/>
              </a:ext>
            </a:extLst>
          </p:cNvPr>
          <p:cNvSpPr txBox="1"/>
          <p:nvPr/>
        </p:nvSpPr>
        <p:spPr>
          <a:xfrm>
            <a:off x="5066604" y="2970519"/>
            <a:ext cx="1787669" cy="369332"/>
          </a:xfrm>
          <a:prstGeom prst="rect">
            <a:avLst/>
          </a:prstGeom>
          <a:noFill/>
        </p:spPr>
        <p:txBody>
          <a:bodyPr wrap="none" rtlCol="0">
            <a:spAutoFit/>
          </a:bodyPr>
          <a:lstStyle/>
          <a:p>
            <a:r>
              <a:rPr lang="en-GB">
                <a:latin typeface="+mj-lt"/>
              </a:rPr>
              <a:t>information status</a:t>
            </a:r>
          </a:p>
        </p:txBody>
      </p:sp>
      <p:sp>
        <p:nvSpPr>
          <p:cNvPr id="23" name="TextBox 22">
            <a:extLst>
              <a:ext uri="{FF2B5EF4-FFF2-40B4-BE49-F238E27FC236}">
                <a16:creationId xmlns:a16="http://schemas.microsoft.com/office/drawing/2014/main" id="{86DC6135-7678-D149-B197-94D8B1FF4EF2}"/>
              </a:ext>
            </a:extLst>
          </p:cNvPr>
          <p:cNvSpPr txBox="1"/>
          <p:nvPr/>
        </p:nvSpPr>
        <p:spPr>
          <a:xfrm>
            <a:off x="7427525" y="2970519"/>
            <a:ext cx="984565" cy="369332"/>
          </a:xfrm>
          <a:prstGeom prst="rect">
            <a:avLst/>
          </a:prstGeom>
          <a:noFill/>
        </p:spPr>
        <p:txBody>
          <a:bodyPr wrap="none" rtlCol="0">
            <a:spAutoFit/>
          </a:bodyPr>
          <a:lstStyle/>
          <a:p>
            <a:r>
              <a:rPr lang="en-GB">
                <a:latin typeface="+mj-lt"/>
              </a:rPr>
              <a:t>surprisal</a:t>
            </a:r>
          </a:p>
        </p:txBody>
      </p:sp>
      <p:sp>
        <p:nvSpPr>
          <p:cNvPr id="24" name="TextBox 23">
            <a:extLst>
              <a:ext uri="{FF2B5EF4-FFF2-40B4-BE49-F238E27FC236}">
                <a16:creationId xmlns:a16="http://schemas.microsoft.com/office/drawing/2014/main" id="{DF5763F9-D88D-6040-8684-C58C198ADE93}"/>
              </a:ext>
            </a:extLst>
          </p:cNvPr>
          <p:cNvSpPr txBox="1"/>
          <p:nvPr/>
        </p:nvSpPr>
        <p:spPr>
          <a:xfrm>
            <a:off x="8869733" y="2960556"/>
            <a:ext cx="2519792" cy="369332"/>
          </a:xfrm>
          <a:prstGeom prst="rect">
            <a:avLst/>
          </a:prstGeom>
          <a:noFill/>
        </p:spPr>
        <p:txBody>
          <a:bodyPr wrap="none" rtlCol="0">
            <a:spAutoFit/>
          </a:bodyPr>
          <a:lstStyle/>
          <a:p>
            <a:r>
              <a:rPr lang="en-GB" dirty="0">
                <a:latin typeface="+mj-lt"/>
              </a:rPr>
              <a:t>Named Entity Recognition</a:t>
            </a:r>
          </a:p>
        </p:txBody>
      </p:sp>
      <p:sp>
        <p:nvSpPr>
          <p:cNvPr id="25" name="TextBox 24">
            <a:extLst>
              <a:ext uri="{FF2B5EF4-FFF2-40B4-BE49-F238E27FC236}">
                <a16:creationId xmlns:a16="http://schemas.microsoft.com/office/drawing/2014/main" id="{2827E77B-E9F8-0F4E-9BCD-03127FE940D8}"/>
              </a:ext>
            </a:extLst>
          </p:cNvPr>
          <p:cNvSpPr txBox="1"/>
          <p:nvPr/>
        </p:nvSpPr>
        <p:spPr>
          <a:xfrm>
            <a:off x="609600" y="3668367"/>
            <a:ext cx="739048" cy="400110"/>
          </a:xfrm>
          <a:prstGeom prst="rect">
            <a:avLst/>
          </a:prstGeom>
          <a:noFill/>
        </p:spPr>
        <p:txBody>
          <a:bodyPr wrap="none" rtlCol="0">
            <a:spAutoFit/>
          </a:bodyPr>
          <a:lstStyle/>
          <a:p>
            <a:r>
              <a:rPr lang="en-GB" sz="2000" b="1">
                <a:solidFill>
                  <a:srgbClr val="245B11"/>
                </a:solidFill>
                <a:latin typeface="+mj-lt"/>
              </a:rPr>
              <a:t>Tools</a:t>
            </a:r>
            <a:endParaRPr lang="en-GB" b="1">
              <a:solidFill>
                <a:srgbClr val="245B11"/>
              </a:solidFill>
              <a:latin typeface="+mj-lt"/>
            </a:endParaRPr>
          </a:p>
        </p:txBody>
      </p:sp>
      <p:pic>
        <p:nvPicPr>
          <p:cNvPr id="27" name="Picture 26">
            <a:extLst>
              <a:ext uri="{FF2B5EF4-FFF2-40B4-BE49-F238E27FC236}">
                <a16:creationId xmlns:a16="http://schemas.microsoft.com/office/drawing/2014/main" id="{BB11FAE6-2B2C-414A-B2F3-6ED80BA8CDBA}"/>
              </a:ext>
            </a:extLst>
          </p:cNvPr>
          <p:cNvPicPr>
            <a:picLocks noChangeAspect="1"/>
          </p:cNvPicPr>
          <p:nvPr/>
        </p:nvPicPr>
        <p:blipFill>
          <a:blip r:embed="rId4"/>
          <a:stretch>
            <a:fillRect/>
          </a:stretch>
        </p:blipFill>
        <p:spPr>
          <a:xfrm>
            <a:off x="1055800" y="4178398"/>
            <a:ext cx="1458905" cy="1458905"/>
          </a:xfrm>
          <a:prstGeom prst="rect">
            <a:avLst/>
          </a:prstGeom>
        </p:spPr>
      </p:pic>
      <p:sp>
        <p:nvSpPr>
          <p:cNvPr id="28" name="TextBox 27">
            <a:extLst>
              <a:ext uri="{FF2B5EF4-FFF2-40B4-BE49-F238E27FC236}">
                <a16:creationId xmlns:a16="http://schemas.microsoft.com/office/drawing/2014/main" id="{3A04C381-D9CB-C747-BE16-1DA0CAF46769}"/>
              </a:ext>
            </a:extLst>
          </p:cNvPr>
          <p:cNvSpPr txBox="1"/>
          <p:nvPr/>
        </p:nvSpPr>
        <p:spPr>
          <a:xfrm>
            <a:off x="564235" y="5787691"/>
            <a:ext cx="2908745" cy="954107"/>
          </a:xfrm>
          <a:prstGeom prst="rect">
            <a:avLst/>
          </a:prstGeom>
          <a:noFill/>
        </p:spPr>
        <p:txBody>
          <a:bodyPr wrap="none" rtlCol="0">
            <a:spAutoFit/>
          </a:bodyPr>
          <a:lstStyle/>
          <a:p>
            <a:r>
              <a:rPr lang="en-GB" sz="1400" dirty="0">
                <a:latin typeface="+mj-lt"/>
              </a:rPr>
              <a:t>Python: converting between formats;</a:t>
            </a:r>
          </a:p>
          <a:p>
            <a:r>
              <a:rPr lang="en-GB" sz="1400" dirty="0">
                <a:latin typeface="+mj-lt"/>
              </a:rPr>
              <a:t>Python Stanza library for UD parsing</a:t>
            </a:r>
          </a:p>
          <a:p>
            <a:r>
              <a:rPr lang="en-US" sz="1400" dirty="0">
                <a:latin typeface="+mj-lt"/>
              </a:rPr>
              <a:t>(</a:t>
            </a:r>
            <a:r>
              <a:rPr lang="en-US" sz="1400" dirty="0" err="1">
                <a:latin typeface="+mj-lt"/>
              </a:rPr>
              <a:t>pyconll</a:t>
            </a:r>
            <a:r>
              <a:rPr lang="en-US" sz="1400" dirty="0">
                <a:latin typeface="+mj-lt"/>
              </a:rPr>
              <a:t>, </a:t>
            </a:r>
            <a:r>
              <a:rPr lang="en-US" sz="1400" dirty="0" err="1">
                <a:latin typeface="+mj-lt"/>
              </a:rPr>
              <a:t>conllu</a:t>
            </a:r>
            <a:r>
              <a:rPr lang="en-US" sz="1400" dirty="0">
                <a:latin typeface="+mj-lt"/>
              </a:rPr>
              <a:t>)</a:t>
            </a:r>
            <a:endParaRPr lang="en-GB" sz="1400" dirty="0">
              <a:latin typeface="+mj-lt"/>
            </a:endParaRPr>
          </a:p>
          <a:p>
            <a:endParaRPr lang="en-GB" sz="1400" dirty="0">
              <a:latin typeface="+mj-lt"/>
            </a:endParaRPr>
          </a:p>
        </p:txBody>
      </p:sp>
      <p:sp>
        <p:nvSpPr>
          <p:cNvPr id="29" name="TextBox 28">
            <a:extLst>
              <a:ext uri="{FF2B5EF4-FFF2-40B4-BE49-F238E27FC236}">
                <a16:creationId xmlns:a16="http://schemas.microsoft.com/office/drawing/2014/main" id="{7DAF8C5D-17EC-2042-99F6-A872D6459F0D}"/>
              </a:ext>
            </a:extLst>
          </p:cNvPr>
          <p:cNvSpPr txBox="1"/>
          <p:nvPr/>
        </p:nvSpPr>
        <p:spPr>
          <a:xfrm>
            <a:off x="5260090" y="1554264"/>
            <a:ext cx="2076209" cy="1323439"/>
          </a:xfrm>
          <a:prstGeom prst="rect">
            <a:avLst/>
          </a:prstGeom>
          <a:solidFill>
            <a:schemeClr val="bg1">
              <a:lumMod val="85000"/>
            </a:schemeClr>
          </a:solidFill>
        </p:spPr>
        <p:txBody>
          <a:bodyPr wrap="none" rtlCol="0">
            <a:spAutoFit/>
          </a:bodyPr>
          <a:lstStyle/>
          <a:p>
            <a:r>
              <a:rPr lang="en-GB" sz="1600">
                <a:latin typeface="+mj-lt"/>
              </a:rPr>
              <a:t>………&lt;given&gt; ….</a:t>
            </a:r>
          </a:p>
          <a:p>
            <a:r>
              <a:rPr lang="en-GB" sz="1600">
                <a:latin typeface="+mj-lt"/>
              </a:rPr>
              <a:t>.. &lt;new&gt; …………</a:t>
            </a:r>
          </a:p>
          <a:p>
            <a:r>
              <a:rPr lang="en-GB" sz="1600">
                <a:latin typeface="+mj-lt"/>
              </a:rPr>
              <a:t>&lt;contrastive&gt; …</a:t>
            </a:r>
          </a:p>
          <a:p>
            <a:r>
              <a:rPr lang="en-GB" sz="1600">
                <a:latin typeface="+mj-lt"/>
              </a:rPr>
              <a:t>……………………….</a:t>
            </a:r>
          </a:p>
          <a:p>
            <a:r>
              <a:rPr lang="en-GB" sz="1600">
                <a:latin typeface="+mj-lt"/>
              </a:rPr>
              <a:t>……….&lt;new&gt; …..</a:t>
            </a:r>
          </a:p>
        </p:txBody>
      </p:sp>
      <p:pic>
        <p:nvPicPr>
          <p:cNvPr id="31" name="Picture 30">
            <a:extLst>
              <a:ext uri="{FF2B5EF4-FFF2-40B4-BE49-F238E27FC236}">
                <a16:creationId xmlns:a16="http://schemas.microsoft.com/office/drawing/2014/main" id="{53260F86-32E8-9146-B6AA-967FF88BEB49}"/>
              </a:ext>
            </a:extLst>
          </p:cNvPr>
          <p:cNvPicPr>
            <a:picLocks noChangeAspect="1"/>
          </p:cNvPicPr>
          <p:nvPr/>
        </p:nvPicPr>
        <p:blipFill>
          <a:blip r:embed="rId5"/>
          <a:stretch>
            <a:fillRect/>
          </a:stretch>
        </p:blipFill>
        <p:spPr>
          <a:xfrm>
            <a:off x="8858595" y="4403108"/>
            <a:ext cx="3133291" cy="986727"/>
          </a:xfrm>
          <a:prstGeom prst="rect">
            <a:avLst/>
          </a:prstGeom>
        </p:spPr>
      </p:pic>
      <p:sp>
        <p:nvSpPr>
          <p:cNvPr id="32" name="TextBox 31">
            <a:extLst>
              <a:ext uri="{FF2B5EF4-FFF2-40B4-BE49-F238E27FC236}">
                <a16:creationId xmlns:a16="http://schemas.microsoft.com/office/drawing/2014/main" id="{82AD4B81-2B1E-044C-9DCD-3305C94EB34D}"/>
              </a:ext>
            </a:extLst>
          </p:cNvPr>
          <p:cNvSpPr txBox="1"/>
          <p:nvPr/>
        </p:nvSpPr>
        <p:spPr>
          <a:xfrm>
            <a:off x="9676516" y="5426332"/>
            <a:ext cx="2436564" cy="307777"/>
          </a:xfrm>
          <a:prstGeom prst="rect">
            <a:avLst/>
          </a:prstGeom>
          <a:noFill/>
        </p:spPr>
        <p:txBody>
          <a:bodyPr wrap="none" rtlCol="0">
            <a:spAutoFit/>
          </a:bodyPr>
          <a:lstStyle/>
          <a:p>
            <a:r>
              <a:rPr lang="en-GB" sz="1400">
                <a:latin typeface="+mj-lt"/>
              </a:rPr>
              <a:t>CQPweb; hosted by Prof. Teich </a:t>
            </a:r>
          </a:p>
        </p:txBody>
      </p:sp>
      <p:sp>
        <p:nvSpPr>
          <p:cNvPr id="33" name="TextBox 32">
            <a:extLst>
              <a:ext uri="{FF2B5EF4-FFF2-40B4-BE49-F238E27FC236}">
                <a16:creationId xmlns:a16="http://schemas.microsoft.com/office/drawing/2014/main" id="{2E431B21-9475-0445-8FC8-51AECF0CE882}"/>
              </a:ext>
            </a:extLst>
          </p:cNvPr>
          <p:cNvSpPr txBox="1"/>
          <p:nvPr/>
        </p:nvSpPr>
        <p:spPr>
          <a:xfrm>
            <a:off x="7173043" y="1558050"/>
            <a:ext cx="2076209" cy="1323439"/>
          </a:xfrm>
          <a:prstGeom prst="rect">
            <a:avLst/>
          </a:prstGeom>
          <a:solidFill>
            <a:schemeClr val="bg1">
              <a:lumMod val="85000"/>
            </a:schemeClr>
          </a:solidFill>
        </p:spPr>
        <p:txBody>
          <a:bodyPr wrap="none" rtlCol="0">
            <a:spAutoFit/>
          </a:bodyPr>
          <a:lstStyle/>
          <a:p>
            <a:r>
              <a:rPr lang="en-GB" sz="1600">
                <a:latin typeface="+mj-lt"/>
              </a:rPr>
              <a:t>………&lt;0.87&gt; ….</a:t>
            </a:r>
          </a:p>
          <a:p>
            <a:r>
              <a:rPr lang="en-GB" sz="1600">
                <a:latin typeface="+mj-lt"/>
              </a:rPr>
              <a:t>.. &lt;4.15&gt; …………</a:t>
            </a:r>
          </a:p>
          <a:p>
            <a:r>
              <a:rPr lang="en-GB" sz="1600">
                <a:latin typeface="+mj-lt"/>
              </a:rPr>
              <a:t>&lt;3.65&gt; …</a:t>
            </a:r>
          </a:p>
          <a:p>
            <a:r>
              <a:rPr lang="en-GB" sz="1600">
                <a:latin typeface="+mj-lt"/>
              </a:rPr>
              <a:t>……………………….</a:t>
            </a:r>
          </a:p>
          <a:p>
            <a:r>
              <a:rPr lang="en-GB" sz="1600">
                <a:latin typeface="+mj-lt"/>
              </a:rPr>
              <a:t>……….&lt;3.25&gt; …..</a:t>
            </a:r>
          </a:p>
        </p:txBody>
      </p:sp>
      <p:pic>
        <p:nvPicPr>
          <p:cNvPr id="5" name="Picture 4">
            <a:extLst>
              <a:ext uri="{FF2B5EF4-FFF2-40B4-BE49-F238E27FC236}">
                <a16:creationId xmlns:a16="http://schemas.microsoft.com/office/drawing/2014/main" id="{7AF2E70E-6290-A74F-9C66-06C1C0E0CB86}"/>
              </a:ext>
            </a:extLst>
          </p:cNvPr>
          <p:cNvPicPr>
            <a:picLocks noChangeAspect="1"/>
          </p:cNvPicPr>
          <p:nvPr/>
        </p:nvPicPr>
        <p:blipFill>
          <a:blip r:embed="rId6"/>
          <a:stretch>
            <a:fillRect/>
          </a:stretch>
        </p:blipFill>
        <p:spPr>
          <a:xfrm>
            <a:off x="3115331" y="3773456"/>
            <a:ext cx="2900222" cy="1960653"/>
          </a:xfrm>
          <a:prstGeom prst="rect">
            <a:avLst/>
          </a:prstGeom>
        </p:spPr>
      </p:pic>
      <p:pic>
        <p:nvPicPr>
          <p:cNvPr id="7" name="Picture 6">
            <a:extLst>
              <a:ext uri="{FF2B5EF4-FFF2-40B4-BE49-F238E27FC236}">
                <a16:creationId xmlns:a16="http://schemas.microsoft.com/office/drawing/2014/main" id="{33ABD195-6839-A24B-AF15-278194F89C09}"/>
              </a:ext>
            </a:extLst>
          </p:cNvPr>
          <p:cNvPicPr>
            <a:picLocks noChangeAspect="1"/>
          </p:cNvPicPr>
          <p:nvPr/>
        </p:nvPicPr>
        <p:blipFill>
          <a:blip r:embed="rId7"/>
          <a:stretch>
            <a:fillRect/>
          </a:stretch>
        </p:blipFill>
        <p:spPr>
          <a:xfrm>
            <a:off x="3488309" y="5803615"/>
            <a:ext cx="2154265" cy="644058"/>
          </a:xfrm>
          <a:prstGeom prst="rect">
            <a:avLst/>
          </a:prstGeom>
        </p:spPr>
      </p:pic>
      <p:pic>
        <p:nvPicPr>
          <p:cNvPr id="9" name="Picture 8">
            <a:extLst>
              <a:ext uri="{FF2B5EF4-FFF2-40B4-BE49-F238E27FC236}">
                <a16:creationId xmlns:a16="http://schemas.microsoft.com/office/drawing/2014/main" id="{01564267-10EC-BA4A-8F05-1ECF499596FD}"/>
              </a:ext>
            </a:extLst>
          </p:cNvPr>
          <p:cNvPicPr>
            <a:picLocks noChangeAspect="1"/>
          </p:cNvPicPr>
          <p:nvPr/>
        </p:nvPicPr>
        <p:blipFill>
          <a:blip r:embed="rId8"/>
          <a:stretch>
            <a:fillRect/>
          </a:stretch>
        </p:blipFill>
        <p:spPr>
          <a:xfrm>
            <a:off x="6128114" y="3812200"/>
            <a:ext cx="2705100" cy="1955800"/>
          </a:xfrm>
          <a:prstGeom prst="rect">
            <a:avLst/>
          </a:prstGeom>
        </p:spPr>
      </p:pic>
      <p:sp>
        <p:nvSpPr>
          <p:cNvPr id="11" name="TextBox 10">
            <a:extLst>
              <a:ext uri="{FF2B5EF4-FFF2-40B4-BE49-F238E27FC236}">
                <a16:creationId xmlns:a16="http://schemas.microsoft.com/office/drawing/2014/main" id="{7FF003D1-3EFE-D641-8A9C-76D6622F1423}"/>
              </a:ext>
            </a:extLst>
          </p:cNvPr>
          <p:cNvSpPr txBox="1"/>
          <p:nvPr/>
        </p:nvSpPr>
        <p:spPr>
          <a:xfrm>
            <a:off x="6128113" y="5823044"/>
            <a:ext cx="2705101" cy="738664"/>
          </a:xfrm>
          <a:prstGeom prst="rect">
            <a:avLst/>
          </a:prstGeom>
          <a:noFill/>
        </p:spPr>
        <p:txBody>
          <a:bodyPr wrap="square" rtlCol="0">
            <a:spAutoFit/>
          </a:bodyPr>
          <a:lstStyle/>
          <a:p>
            <a:r>
              <a:rPr lang="en-GB" sz="1400">
                <a:latin typeface="+mj-lt"/>
              </a:rPr>
              <a:t>xml for other annotation layers, CQPweb for querying some of the relevant layers together </a:t>
            </a:r>
          </a:p>
        </p:txBody>
      </p:sp>
      <p:sp>
        <p:nvSpPr>
          <p:cNvPr id="26" name="TextBox 25">
            <a:extLst>
              <a:ext uri="{FF2B5EF4-FFF2-40B4-BE49-F238E27FC236}">
                <a16:creationId xmlns:a16="http://schemas.microsoft.com/office/drawing/2014/main" id="{008010DA-B7AB-174A-9141-DEBDF8EF5BB2}"/>
              </a:ext>
            </a:extLst>
          </p:cNvPr>
          <p:cNvSpPr txBox="1"/>
          <p:nvPr/>
        </p:nvSpPr>
        <p:spPr>
          <a:xfrm>
            <a:off x="553945" y="908206"/>
            <a:ext cx="3810210" cy="400110"/>
          </a:xfrm>
          <a:prstGeom prst="rect">
            <a:avLst/>
          </a:prstGeom>
          <a:noFill/>
        </p:spPr>
        <p:txBody>
          <a:bodyPr wrap="none" rtlCol="0">
            <a:spAutoFit/>
          </a:bodyPr>
          <a:lstStyle/>
          <a:p>
            <a:r>
              <a:rPr lang="en-GB" sz="2000" b="1" dirty="0">
                <a:solidFill>
                  <a:srgbClr val="245B11"/>
                </a:solidFill>
                <a:latin typeface="+mj-lt"/>
              </a:rPr>
              <a:t>Multi-layer and modular structure</a:t>
            </a:r>
          </a:p>
        </p:txBody>
      </p:sp>
      <p:sp>
        <p:nvSpPr>
          <p:cNvPr id="30" name="Rectangle 29">
            <a:extLst>
              <a:ext uri="{FF2B5EF4-FFF2-40B4-BE49-F238E27FC236}">
                <a16:creationId xmlns:a16="http://schemas.microsoft.com/office/drawing/2014/main" id="{E80B5FAC-68E1-BF4C-A874-DF5958792327}"/>
              </a:ext>
            </a:extLst>
          </p:cNvPr>
          <p:cNvSpPr/>
          <p:nvPr/>
        </p:nvSpPr>
        <p:spPr>
          <a:xfrm>
            <a:off x="9110821" y="1547159"/>
            <a:ext cx="2061806" cy="1338828"/>
          </a:xfrm>
          <a:prstGeom prst="rect">
            <a:avLst/>
          </a:prstGeom>
          <a:solidFill>
            <a:schemeClr val="bg1">
              <a:lumMod val="85000"/>
            </a:schemeClr>
          </a:solidFill>
        </p:spPr>
        <p:txBody>
          <a:bodyPr wrap="square">
            <a:spAutoFit/>
          </a:bodyPr>
          <a:lstStyle/>
          <a:p>
            <a:r>
              <a:rPr lang="en-US" sz="900" dirty="0">
                <a:latin typeface="+mj-lt"/>
                <a:ea typeface="Source Sans Pro" panose="020B0503030403020204" pitchFamily="34" charset="0"/>
              </a:rPr>
              <a:t># text = José </a:t>
            </a:r>
            <a:r>
              <a:rPr lang="en-US" sz="900" dirty="0" err="1">
                <a:latin typeface="+mj-lt"/>
                <a:ea typeface="Source Sans Pro" panose="020B0503030403020204" pitchFamily="34" charset="0"/>
              </a:rPr>
              <a:t>Arcadio</a:t>
            </a:r>
            <a:r>
              <a:rPr lang="en-US" sz="900" dirty="0">
                <a:latin typeface="+mj-lt"/>
                <a:ea typeface="Source Sans Pro" panose="020B0503030403020204" pitchFamily="34" charset="0"/>
              </a:rPr>
              <a:t> </a:t>
            </a:r>
            <a:r>
              <a:rPr lang="en-US" sz="900" dirty="0" err="1">
                <a:latin typeface="+mj-lt"/>
                <a:ea typeface="Source Sans Pro" panose="020B0503030403020204" pitchFamily="34" charset="0"/>
              </a:rPr>
              <a:t>Buendía</a:t>
            </a:r>
            <a:r>
              <a:rPr lang="en-US" sz="900" dirty="0">
                <a:latin typeface="+mj-lt"/>
                <a:ea typeface="Source Sans Pro" panose="020B0503030403020204" pitchFamily="34" charset="0"/>
              </a:rPr>
              <a:t> made no at.</a:t>
            </a:r>
          </a:p>
          <a:p>
            <a:r>
              <a:rPr lang="en-US" sz="900" dirty="0">
                <a:latin typeface="+mj-lt"/>
                <a:ea typeface="Source Sans Pro" panose="020B0503030403020204" pitchFamily="34" charset="0"/>
              </a:rPr>
              <a:t># </a:t>
            </a:r>
            <a:r>
              <a:rPr lang="en-US" sz="900" dirty="0" err="1">
                <a:latin typeface="+mj-lt"/>
                <a:ea typeface="Source Sans Pro" panose="020B0503030403020204" pitchFamily="34" charset="0"/>
              </a:rPr>
              <a:t>sent_id</a:t>
            </a:r>
            <a:r>
              <a:rPr lang="en-US" sz="900" dirty="0">
                <a:latin typeface="+mj-lt"/>
                <a:ea typeface="Source Sans Pro" panose="020B0503030403020204" pitchFamily="34" charset="0"/>
              </a:rPr>
              <a:t> = 32</a:t>
            </a:r>
          </a:p>
          <a:p>
            <a:r>
              <a:rPr lang="en-US" sz="900" dirty="0">
                <a:latin typeface="+mj-lt"/>
                <a:ea typeface="Source Sans Pro" panose="020B0503030403020204" pitchFamily="34" charset="0"/>
              </a:rPr>
              <a:t>1 José </a:t>
            </a:r>
            <a:r>
              <a:rPr lang="en-US" sz="900" dirty="0" err="1">
                <a:latin typeface="+mj-lt"/>
                <a:ea typeface="Source Sans Pro" panose="020B0503030403020204" pitchFamily="34" charset="0"/>
              </a:rPr>
              <a:t>ner</a:t>
            </a:r>
            <a:r>
              <a:rPr lang="en-US" sz="900" dirty="0">
                <a:latin typeface="+mj-lt"/>
                <a:ea typeface="Source Sans Pro" panose="020B0503030403020204" pitchFamily="34" charset="0"/>
              </a:rPr>
              <a:t>=B-PERSON</a:t>
            </a:r>
          </a:p>
          <a:p>
            <a:r>
              <a:rPr lang="en-US" sz="900" dirty="0">
                <a:latin typeface="+mj-lt"/>
                <a:ea typeface="Source Sans Pro" panose="020B0503030403020204" pitchFamily="34" charset="0"/>
              </a:rPr>
              <a:t>2 </a:t>
            </a:r>
            <a:r>
              <a:rPr lang="en-US" sz="900" dirty="0" err="1">
                <a:latin typeface="+mj-lt"/>
                <a:ea typeface="Source Sans Pro" panose="020B0503030403020204" pitchFamily="34" charset="0"/>
              </a:rPr>
              <a:t>Arcadio</a:t>
            </a:r>
            <a:r>
              <a:rPr lang="en-US" sz="900" dirty="0">
                <a:latin typeface="+mj-lt"/>
                <a:ea typeface="Source Sans Pro" panose="020B0503030403020204" pitchFamily="34" charset="0"/>
              </a:rPr>
              <a:t>	</a:t>
            </a:r>
            <a:r>
              <a:rPr lang="en-US" sz="900" dirty="0" err="1">
                <a:latin typeface="+mj-lt"/>
                <a:ea typeface="Source Sans Pro" panose="020B0503030403020204" pitchFamily="34" charset="0"/>
              </a:rPr>
              <a:t>ner</a:t>
            </a:r>
            <a:r>
              <a:rPr lang="en-US" sz="900" dirty="0">
                <a:latin typeface="+mj-lt"/>
                <a:ea typeface="Source Sans Pro" panose="020B0503030403020204" pitchFamily="34" charset="0"/>
              </a:rPr>
              <a:t>=I-PERSON</a:t>
            </a:r>
          </a:p>
          <a:p>
            <a:r>
              <a:rPr lang="en-US" sz="900" dirty="0">
                <a:latin typeface="+mj-lt"/>
                <a:ea typeface="Source Sans Pro" panose="020B0503030403020204" pitchFamily="34" charset="0"/>
              </a:rPr>
              <a:t>3 </a:t>
            </a:r>
            <a:r>
              <a:rPr lang="en-US" sz="900" dirty="0" err="1">
                <a:latin typeface="+mj-lt"/>
                <a:ea typeface="Source Sans Pro" panose="020B0503030403020204" pitchFamily="34" charset="0"/>
              </a:rPr>
              <a:t>Buendía</a:t>
            </a:r>
            <a:r>
              <a:rPr lang="en-US" sz="900" dirty="0">
                <a:latin typeface="+mj-lt"/>
                <a:ea typeface="Source Sans Pro" panose="020B0503030403020204" pitchFamily="34" charset="0"/>
              </a:rPr>
              <a:t>	</a:t>
            </a:r>
            <a:r>
              <a:rPr lang="en-US" sz="900" dirty="0" err="1">
                <a:latin typeface="+mj-lt"/>
                <a:ea typeface="Source Sans Pro" panose="020B0503030403020204" pitchFamily="34" charset="0"/>
              </a:rPr>
              <a:t>ner</a:t>
            </a:r>
            <a:r>
              <a:rPr lang="en-US" sz="900" dirty="0">
                <a:latin typeface="+mj-lt"/>
                <a:ea typeface="Source Sans Pro" panose="020B0503030403020204" pitchFamily="34" charset="0"/>
              </a:rPr>
              <a:t>=E-PERSON</a:t>
            </a:r>
          </a:p>
          <a:p>
            <a:r>
              <a:rPr lang="en-US" sz="900" dirty="0">
                <a:latin typeface="+mj-lt"/>
                <a:ea typeface="Source Sans Pro" panose="020B0503030403020204" pitchFamily="34" charset="0"/>
              </a:rPr>
              <a:t>4 made	</a:t>
            </a:r>
            <a:r>
              <a:rPr lang="en-US" sz="900" dirty="0" err="1">
                <a:latin typeface="+mj-lt"/>
                <a:ea typeface="Source Sans Pro" panose="020B0503030403020204" pitchFamily="34" charset="0"/>
              </a:rPr>
              <a:t>ner</a:t>
            </a:r>
            <a:r>
              <a:rPr lang="en-US" sz="900" dirty="0">
                <a:latin typeface="+mj-lt"/>
                <a:ea typeface="Source Sans Pro" panose="020B0503030403020204" pitchFamily="34" charset="0"/>
              </a:rPr>
              <a:t>=O</a:t>
            </a:r>
          </a:p>
          <a:p>
            <a:r>
              <a:rPr lang="en-US" sz="900" dirty="0">
                <a:latin typeface="+mj-lt"/>
                <a:ea typeface="Source Sans Pro" panose="020B0503030403020204" pitchFamily="34" charset="0"/>
              </a:rPr>
              <a:t>5 no	</a:t>
            </a:r>
            <a:r>
              <a:rPr lang="en-US" sz="900" dirty="0" err="1">
                <a:latin typeface="+mj-lt"/>
                <a:ea typeface="Source Sans Pro" panose="020B0503030403020204" pitchFamily="34" charset="0"/>
              </a:rPr>
              <a:t>ner</a:t>
            </a:r>
            <a:r>
              <a:rPr lang="en-US" sz="900" dirty="0">
                <a:latin typeface="+mj-lt"/>
                <a:ea typeface="Source Sans Pro" panose="020B0503030403020204" pitchFamily="34" charset="0"/>
              </a:rPr>
              <a:t>=O</a:t>
            </a:r>
          </a:p>
          <a:p>
            <a:r>
              <a:rPr lang="en-US" sz="900" dirty="0">
                <a:latin typeface="+mj-lt"/>
                <a:ea typeface="Source Sans Pro" panose="020B0503030403020204" pitchFamily="34" charset="0"/>
              </a:rPr>
              <a:t>6 at.	</a:t>
            </a:r>
            <a:r>
              <a:rPr lang="en-US" sz="900" dirty="0" err="1">
                <a:latin typeface="+mj-lt"/>
                <a:ea typeface="Source Sans Pro" panose="020B0503030403020204" pitchFamily="34" charset="0"/>
              </a:rPr>
              <a:t>ner</a:t>
            </a:r>
            <a:r>
              <a:rPr lang="en-US" sz="900" dirty="0">
                <a:latin typeface="+mj-lt"/>
                <a:ea typeface="Source Sans Pro" panose="020B0503030403020204" pitchFamily="34" charset="0"/>
              </a:rPr>
              <a:t>=O</a:t>
            </a:r>
          </a:p>
        </p:txBody>
      </p:sp>
      <p:pic>
        <p:nvPicPr>
          <p:cNvPr id="35" name="Picture 34" descr="A black and white logo&#10;&#10;Description automatically generated with low confidence">
            <a:extLst>
              <a:ext uri="{FF2B5EF4-FFF2-40B4-BE49-F238E27FC236}">
                <a16:creationId xmlns:a16="http://schemas.microsoft.com/office/drawing/2014/main" id="{4F613B4B-2EAC-1048-9853-747C4FF222C3}"/>
              </a:ext>
            </a:extLst>
          </p:cNvPr>
          <p:cNvPicPr>
            <a:picLocks noChangeAspect="1"/>
          </p:cNvPicPr>
          <p:nvPr/>
        </p:nvPicPr>
        <p:blipFill>
          <a:blip r:embed="rId9"/>
          <a:stretch>
            <a:fillRect/>
          </a:stretch>
        </p:blipFill>
        <p:spPr>
          <a:xfrm>
            <a:off x="4356381" y="1328003"/>
            <a:ext cx="551528" cy="551528"/>
          </a:xfrm>
          <a:prstGeom prst="rect">
            <a:avLst/>
          </a:prstGeom>
        </p:spPr>
      </p:pic>
      <p:pic>
        <p:nvPicPr>
          <p:cNvPr id="10" name="Picture 9" descr="A black and white logo&#10;&#10;AI-generated content may be incorrect.">
            <a:extLst>
              <a:ext uri="{FF2B5EF4-FFF2-40B4-BE49-F238E27FC236}">
                <a16:creationId xmlns:a16="http://schemas.microsoft.com/office/drawing/2014/main" id="{C8A0AE47-00DA-9BB0-1B96-1148ED232298}"/>
              </a:ext>
            </a:extLst>
          </p:cNvPr>
          <p:cNvPicPr>
            <a:picLocks noChangeAspect="1"/>
          </p:cNvPicPr>
          <p:nvPr/>
        </p:nvPicPr>
        <p:blipFill>
          <a:blip r:embed="rId10"/>
          <a:stretch>
            <a:fillRect/>
          </a:stretch>
        </p:blipFill>
        <p:spPr>
          <a:xfrm>
            <a:off x="5827743" y="982529"/>
            <a:ext cx="1223447" cy="1223447"/>
          </a:xfrm>
          <a:prstGeom prst="rect">
            <a:avLst/>
          </a:prstGeom>
        </p:spPr>
      </p:pic>
    </p:spTree>
    <p:extLst>
      <p:ext uri="{BB962C8B-B14F-4D97-AF65-F5344CB8AC3E}">
        <p14:creationId xmlns:p14="http://schemas.microsoft.com/office/powerpoint/2010/main" val="4070385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AE073-7CD2-6947-9835-2CBA0F9890B5}"/>
              </a:ext>
            </a:extLst>
          </p:cNvPr>
          <p:cNvSpPr>
            <a:spLocks noGrp="1"/>
          </p:cNvSpPr>
          <p:nvPr>
            <p:ph type="title"/>
          </p:nvPr>
        </p:nvSpPr>
        <p:spPr/>
        <p:txBody>
          <a:bodyPr>
            <a:normAutofit/>
          </a:bodyPr>
          <a:lstStyle/>
          <a:p>
            <a:r>
              <a:rPr lang="en-GB" sz="3600" b="0" dirty="0">
                <a:solidFill>
                  <a:schemeClr val="tx1"/>
                </a:solidFill>
                <a:latin typeface="+mn-lt"/>
              </a:rPr>
              <a:t>How we did it</a:t>
            </a:r>
          </a:p>
        </p:txBody>
      </p:sp>
      <p:sp>
        <p:nvSpPr>
          <p:cNvPr id="3" name="Content Placeholder 2">
            <a:extLst>
              <a:ext uri="{FF2B5EF4-FFF2-40B4-BE49-F238E27FC236}">
                <a16:creationId xmlns:a16="http://schemas.microsoft.com/office/drawing/2014/main" id="{047A433B-706D-CC4C-BA9E-5594B381E527}"/>
              </a:ext>
            </a:extLst>
          </p:cNvPr>
          <p:cNvSpPr>
            <a:spLocks noGrp="1"/>
          </p:cNvSpPr>
          <p:nvPr>
            <p:ph idx="1"/>
          </p:nvPr>
        </p:nvSpPr>
        <p:spPr/>
        <p:txBody>
          <a:bodyPr>
            <a:normAutofit fontScale="92500" lnSpcReduction="20000"/>
          </a:bodyPr>
          <a:lstStyle/>
          <a:p>
            <a:pPr marL="0" indent="0" algn="ctr">
              <a:buNone/>
            </a:pPr>
            <a:r>
              <a:rPr lang="en-GB" cap="none" dirty="0">
                <a:solidFill>
                  <a:srgbClr val="245B11"/>
                </a:solidFill>
                <a:latin typeface="+mn-lt"/>
              </a:rPr>
              <a:t>…steps in creating CIEP+ and mini-CIEP+</a:t>
            </a:r>
          </a:p>
          <a:p>
            <a:pPr marL="0" indent="0">
              <a:buNone/>
            </a:pPr>
            <a:endParaRPr lang="en-GB" sz="1200" cap="none" dirty="0">
              <a:latin typeface="+mn-lt"/>
            </a:endParaRPr>
          </a:p>
          <a:p>
            <a:pPr marL="514350" indent="-514350">
              <a:buFont typeface="+mj-lt"/>
              <a:buAutoNum type="arabicPeriod"/>
            </a:pPr>
            <a:r>
              <a:rPr lang="en-GB" sz="2700" cap="none" dirty="0">
                <a:latin typeface="+mn-lt"/>
              </a:rPr>
              <a:t>obtain a physical copy of each book (the university library now owns some antiques, rarities, illustrated works… some come with great stories)</a:t>
            </a:r>
          </a:p>
          <a:p>
            <a:pPr marL="514350" indent="-514350">
              <a:buFont typeface="+mj-lt"/>
              <a:buAutoNum type="arabicPeriod"/>
            </a:pPr>
            <a:r>
              <a:rPr lang="en-GB" sz="2700" cap="none" dirty="0">
                <a:latin typeface="+mn-lt"/>
              </a:rPr>
              <a:t>create or buy in addition a digital version of each book; in most cases this means OCR + OCR correction by a human annotator</a:t>
            </a:r>
          </a:p>
          <a:p>
            <a:pPr marL="514350" indent="-514350">
              <a:buFont typeface="+mj-lt"/>
              <a:buAutoNum type="arabicPeriod"/>
            </a:pPr>
            <a:r>
              <a:rPr lang="en-GB" sz="2700" cap="none" dirty="0">
                <a:latin typeface="+mn-lt"/>
              </a:rPr>
              <a:t>add metadata and catalogue the physical books in the university library</a:t>
            </a:r>
          </a:p>
          <a:p>
            <a:pPr marL="514350" indent="-514350">
              <a:buFont typeface="+mj-lt"/>
              <a:buAutoNum type="arabicPeriod"/>
            </a:pPr>
            <a:r>
              <a:rPr lang="en-GB" sz="2700" cap="none" dirty="0">
                <a:latin typeface="+mn-lt"/>
              </a:rPr>
              <a:t>use the Stanford Stanza natural language analysis package to parse the texts (sentence splitting, tokenization, lemmatization, parts-of-speech and syntactic dependencies tagging)</a:t>
            </a:r>
          </a:p>
          <a:p>
            <a:pPr marL="514350" indent="-514350">
              <a:buFont typeface="+mj-lt"/>
              <a:buAutoNum type="arabicPeriod"/>
            </a:pPr>
            <a:r>
              <a:rPr lang="en-GB" sz="2700" cap="none" dirty="0">
                <a:latin typeface="+mn-lt"/>
              </a:rPr>
              <a:t>find solutions for sampled languages without a pretrained Stanza parser and/or without a UD treebank (creating treebanks ourselves)</a:t>
            </a:r>
          </a:p>
          <a:p>
            <a:pPr marL="0" indent="0" algn="ctr">
              <a:buNone/>
            </a:pPr>
            <a:endParaRPr lang="en-GB" cap="none" dirty="0">
              <a:latin typeface="+mn-lt"/>
            </a:endParaRPr>
          </a:p>
        </p:txBody>
      </p:sp>
    </p:spTree>
    <p:extLst>
      <p:ext uri="{BB962C8B-B14F-4D97-AF65-F5344CB8AC3E}">
        <p14:creationId xmlns:p14="http://schemas.microsoft.com/office/powerpoint/2010/main" val="1252677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D465-AD61-104B-B14E-6B53603ABD3D}"/>
              </a:ext>
            </a:extLst>
          </p:cNvPr>
          <p:cNvSpPr>
            <a:spLocks noGrp="1"/>
          </p:cNvSpPr>
          <p:nvPr>
            <p:ph type="title"/>
          </p:nvPr>
        </p:nvSpPr>
        <p:spPr/>
        <p:txBody>
          <a:bodyPr>
            <a:normAutofit/>
          </a:bodyPr>
          <a:lstStyle/>
          <a:p>
            <a:r>
              <a:rPr lang="en-GB" sz="3600" b="0" dirty="0">
                <a:solidFill>
                  <a:schemeClr val="tx1"/>
                </a:solidFill>
                <a:latin typeface="+mj-lt"/>
              </a:rPr>
              <a:t>How can we share </a:t>
            </a:r>
            <a:r>
              <a:rPr lang="en-GB" sz="3600" b="0" dirty="0" err="1">
                <a:solidFill>
                  <a:schemeClr val="tx1"/>
                </a:solidFill>
                <a:latin typeface="+mj-lt"/>
              </a:rPr>
              <a:t>miniciep</a:t>
            </a:r>
            <a:r>
              <a:rPr lang="en-GB" sz="3600" b="0" dirty="0">
                <a:solidFill>
                  <a:schemeClr val="tx1"/>
                </a:solidFill>
                <a:latin typeface="+mj-lt"/>
              </a:rPr>
              <a:t>+ with you?</a:t>
            </a:r>
          </a:p>
        </p:txBody>
      </p:sp>
      <p:sp>
        <p:nvSpPr>
          <p:cNvPr id="3" name="Content Placeholder 2">
            <a:extLst>
              <a:ext uri="{FF2B5EF4-FFF2-40B4-BE49-F238E27FC236}">
                <a16:creationId xmlns:a16="http://schemas.microsoft.com/office/drawing/2014/main" id="{B81FA07C-3B30-F34B-8409-54333FBA4709}"/>
              </a:ext>
            </a:extLst>
          </p:cNvPr>
          <p:cNvSpPr>
            <a:spLocks noGrp="1"/>
          </p:cNvSpPr>
          <p:nvPr>
            <p:ph idx="1"/>
          </p:nvPr>
        </p:nvSpPr>
        <p:spPr/>
        <p:txBody>
          <a:bodyPr>
            <a:normAutofit fontScale="92500" lnSpcReduction="10000"/>
          </a:bodyPr>
          <a:lstStyle/>
          <a:p>
            <a:pPr>
              <a:buFont typeface="System Font Regular"/>
              <a:buChar char="&gt;"/>
            </a:pPr>
            <a:r>
              <a:rPr lang="en-GB" cap="none" dirty="0">
                <a:latin typeface="+mn-lt"/>
              </a:rPr>
              <a:t>Hartmann (2023): “The replication crisis in linguistics is highly relevant to corpus-based research: Many corpus studies are not directly replicable as the data on which they are based are not readily available.”</a:t>
            </a:r>
          </a:p>
          <a:p>
            <a:pPr>
              <a:buFont typeface="System Font Regular"/>
              <a:buChar char="&gt;"/>
            </a:pPr>
            <a:r>
              <a:rPr lang="en-GB" cap="none" dirty="0">
                <a:latin typeface="+mn-lt"/>
              </a:rPr>
              <a:t>German copy-right law (</a:t>
            </a:r>
            <a:r>
              <a:rPr lang="en-GB" cap="none" dirty="0" err="1">
                <a:latin typeface="+mn-lt"/>
              </a:rPr>
              <a:t>Urheberrecht</a:t>
            </a:r>
            <a:r>
              <a:rPr lang="en-GB" cap="none" dirty="0">
                <a:latin typeface="+mn-lt"/>
              </a:rPr>
              <a:t>)§ 60c and 60d: “</a:t>
            </a:r>
            <a:r>
              <a:rPr lang="en-GB" i="1" cap="none" dirty="0">
                <a:latin typeface="+mn-lt"/>
              </a:rPr>
              <a:t>For the purpose of non-commercial scientific research, up to 15 percent of a work may be reproduced, distributed and made publicly accessible [...] to a defined circle of people for their own scientific research</a:t>
            </a:r>
            <a:r>
              <a:rPr lang="en-GB" cap="none" dirty="0">
                <a:latin typeface="+mn-lt"/>
              </a:rPr>
              <a:t>”</a:t>
            </a:r>
          </a:p>
          <a:p>
            <a:pPr>
              <a:buFont typeface="System Font Regular"/>
              <a:buChar char="&gt;"/>
            </a:pPr>
            <a:r>
              <a:rPr lang="en-GB" cap="none" dirty="0">
                <a:solidFill>
                  <a:srgbClr val="245B11"/>
                </a:solidFill>
                <a:latin typeface="+mn-lt"/>
              </a:rPr>
              <a:t>Audience mini-CIEP+: </a:t>
            </a:r>
            <a:r>
              <a:rPr lang="en-GB" cap="none" dirty="0">
                <a:latin typeface="+mn-lt"/>
              </a:rPr>
              <a:t>corpus-based typologists, contrastive linguists and language specialists, especially for low-resourced languages; </a:t>
            </a:r>
          </a:p>
          <a:p>
            <a:pPr>
              <a:buFont typeface="System Font Regular"/>
              <a:buChar char="&gt;"/>
            </a:pPr>
            <a:r>
              <a:rPr lang="en-GB" cap="none" dirty="0">
                <a:solidFill>
                  <a:srgbClr val="245B11"/>
                </a:solidFill>
                <a:latin typeface="+mn-lt"/>
              </a:rPr>
              <a:t>Condition</a:t>
            </a:r>
            <a:r>
              <a:rPr lang="en-GB" cap="none" dirty="0">
                <a:latin typeface="+mn-lt"/>
              </a:rPr>
              <a:t>: data usage agreement that specifies exactly what the researchers need; and how they are supposed to make sure it does not become public.</a:t>
            </a:r>
          </a:p>
          <a:p>
            <a:pPr>
              <a:buFont typeface="System Font Regular"/>
              <a:buChar char="&gt;"/>
            </a:pPr>
            <a:endParaRPr lang="en-GB" cap="none" dirty="0"/>
          </a:p>
        </p:txBody>
      </p:sp>
    </p:spTree>
    <p:extLst>
      <p:ext uri="{BB962C8B-B14F-4D97-AF65-F5344CB8AC3E}">
        <p14:creationId xmlns:p14="http://schemas.microsoft.com/office/powerpoint/2010/main" val="2478733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B5F2C-2DCE-D604-4CD3-879B31B75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EAC0A-E9DE-FD55-F287-E3C043CCB1BD}"/>
              </a:ext>
            </a:extLst>
          </p:cNvPr>
          <p:cNvSpPr>
            <a:spLocks noGrp="1"/>
          </p:cNvSpPr>
          <p:nvPr>
            <p:ph type="title"/>
          </p:nvPr>
        </p:nvSpPr>
        <p:spPr>
          <a:xfrm>
            <a:off x="913774" y="2630911"/>
            <a:ext cx="10364451" cy="1596177"/>
          </a:xfrm>
        </p:spPr>
        <p:txBody>
          <a:bodyPr/>
          <a:lstStyle/>
          <a:p>
            <a:r>
              <a:rPr lang="en-US" dirty="0"/>
              <a:t>A very short introduction to universal dependencies (UD)</a:t>
            </a:r>
            <a:endParaRPr lang="en-DE" dirty="0"/>
          </a:p>
        </p:txBody>
      </p:sp>
    </p:spTree>
    <p:extLst>
      <p:ext uri="{BB962C8B-B14F-4D97-AF65-F5344CB8AC3E}">
        <p14:creationId xmlns:p14="http://schemas.microsoft.com/office/powerpoint/2010/main" val="1498594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97372-C72E-8B0D-7181-C7D5EAED09A0}"/>
              </a:ext>
            </a:extLst>
          </p:cNvPr>
          <p:cNvSpPr>
            <a:spLocks noGrp="1"/>
          </p:cNvSpPr>
          <p:nvPr>
            <p:ph type="title"/>
          </p:nvPr>
        </p:nvSpPr>
        <p:spPr/>
        <p:txBody>
          <a:bodyPr/>
          <a:lstStyle/>
          <a:p>
            <a:r>
              <a:rPr lang="en-GB" dirty="0"/>
              <a:t>Universal dependencies</a:t>
            </a:r>
            <a:endParaRPr lang="en-DE" dirty="0"/>
          </a:p>
        </p:txBody>
      </p:sp>
      <p:sp>
        <p:nvSpPr>
          <p:cNvPr id="3" name="Content Placeholder 2">
            <a:extLst>
              <a:ext uri="{FF2B5EF4-FFF2-40B4-BE49-F238E27FC236}">
                <a16:creationId xmlns:a16="http://schemas.microsoft.com/office/drawing/2014/main" id="{3D400959-D5D0-C376-4497-089FFA19D802}"/>
              </a:ext>
            </a:extLst>
          </p:cNvPr>
          <p:cNvSpPr>
            <a:spLocks noGrp="1"/>
          </p:cNvSpPr>
          <p:nvPr>
            <p:ph sz="quarter" idx="13"/>
          </p:nvPr>
        </p:nvSpPr>
        <p:spPr/>
        <p:txBody>
          <a:bodyPr/>
          <a:lstStyle/>
          <a:p>
            <a:r>
              <a:rPr lang="en-DE" cap="none" dirty="0"/>
              <a:t>Why a dependency treebank? Pros and cons according to Daniel Zeman (</a:t>
            </a:r>
            <a:r>
              <a:rPr lang="en-GB" cap="none" dirty="0"/>
              <a:t>https://</a:t>
            </a:r>
            <a:r>
              <a:rPr lang="en-GB" cap="none" dirty="0" err="1"/>
              <a:t>ufal.mff.cuni.cz</a:t>
            </a:r>
            <a:r>
              <a:rPr lang="en-GB" cap="none" dirty="0"/>
              <a:t>/~</a:t>
            </a:r>
            <a:r>
              <a:rPr lang="en-GB" cap="none" dirty="0" err="1"/>
              <a:t>zeman</a:t>
            </a:r>
            <a:r>
              <a:rPr lang="en-GB" cap="none" dirty="0"/>
              <a:t>/2023/docs/1-introduction.pdf)</a:t>
            </a:r>
            <a:endParaRPr lang="en-DE" cap="none" dirty="0"/>
          </a:p>
          <a:p>
            <a:pPr lvl="1"/>
            <a:r>
              <a:rPr lang="en-GB" cap="none" dirty="0"/>
              <a:t>E</a:t>
            </a:r>
            <a:r>
              <a:rPr lang="en-DE" cap="none" dirty="0"/>
              <a:t>conomical, free word order, head of a phrase ✅</a:t>
            </a:r>
          </a:p>
          <a:p>
            <a:pPr lvl="1"/>
            <a:r>
              <a:rPr lang="en-GB" cap="none" dirty="0"/>
              <a:t>N</a:t>
            </a:r>
            <a:r>
              <a:rPr lang="en-DE" cap="none" dirty="0"/>
              <a:t>o derivation history, coordination/apposition, secondary predicates (two dependencies) ❌</a:t>
            </a:r>
          </a:p>
          <a:p>
            <a:r>
              <a:rPr lang="en-GB" cap="none" dirty="0"/>
              <a:t>B</a:t>
            </a:r>
            <a:r>
              <a:rPr lang="en-DE" cap="none" dirty="0"/>
              <a:t>ut, most important, why Universal Dependencies?</a:t>
            </a:r>
          </a:p>
          <a:p>
            <a:pPr lvl="1"/>
            <a:r>
              <a:rPr lang="en-DE" cap="none" dirty="0"/>
              <a:t>‘universal’, lots of languages (over 150 languages);</a:t>
            </a:r>
          </a:p>
          <a:p>
            <a:pPr lvl="1"/>
            <a:r>
              <a:rPr lang="en-GB" cap="none" dirty="0"/>
              <a:t>widely employed (over 200 treebanks);</a:t>
            </a:r>
          </a:p>
          <a:p>
            <a:pPr lvl="1"/>
            <a:r>
              <a:rPr lang="en-GB" cap="none" dirty="0"/>
              <a:t>several layers of annotation.</a:t>
            </a:r>
            <a:endParaRPr lang="en-DE" cap="none" dirty="0"/>
          </a:p>
          <a:p>
            <a:pPr marL="0" indent="0">
              <a:buNone/>
            </a:pPr>
            <a:endParaRPr lang="en-DE" cap="none" dirty="0"/>
          </a:p>
        </p:txBody>
      </p:sp>
    </p:spTree>
    <p:extLst>
      <p:ext uri="{BB962C8B-B14F-4D97-AF65-F5344CB8AC3E}">
        <p14:creationId xmlns:p14="http://schemas.microsoft.com/office/powerpoint/2010/main" val="1645729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5F000-25AD-B33D-901D-607477DA5B9B}"/>
              </a:ext>
            </a:extLst>
          </p:cNvPr>
          <p:cNvSpPr>
            <a:spLocks noGrp="1"/>
          </p:cNvSpPr>
          <p:nvPr>
            <p:ph type="title"/>
          </p:nvPr>
        </p:nvSpPr>
        <p:spPr/>
        <p:txBody>
          <a:bodyPr/>
          <a:lstStyle/>
          <a:p>
            <a:r>
              <a:rPr lang="en-GB" dirty="0"/>
              <a:t>Universal dependencies</a:t>
            </a:r>
          </a:p>
        </p:txBody>
      </p:sp>
      <p:sp>
        <p:nvSpPr>
          <p:cNvPr id="3" name="Content Placeholder 2">
            <a:extLst>
              <a:ext uri="{FF2B5EF4-FFF2-40B4-BE49-F238E27FC236}">
                <a16:creationId xmlns:a16="http://schemas.microsoft.com/office/drawing/2014/main" id="{9E98365F-0E32-8580-8760-F6678F5C657D}"/>
              </a:ext>
            </a:extLst>
          </p:cNvPr>
          <p:cNvSpPr>
            <a:spLocks noGrp="1"/>
          </p:cNvSpPr>
          <p:nvPr>
            <p:ph sz="quarter" idx="13"/>
          </p:nvPr>
        </p:nvSpPr>
        <p:spPr/>
        <p:txBody>
          <a:bodyPr>
            <a:normAutofit fontScale="92500" lnSpcReduction="20000"/>
          </a:bodyPr>
          <a:lstStyle/>
          <a:p>
            <a:pPr marL="0" indent="0">
              <a:buNone/>
            </a:pPr>
            <a:r>
              <a:rPr lang="en-GB" cap="none" dirty="0"/>
              <a:t>de </a:t>
            </a:r>
            <a:r>
              <a:rPr lang="en-GB" cap="none" dirty="0" err="1"/>
              <a:t>Marneffe</a:t>
            </a:r>
            <a:r>
              <a:rPr lang="en-GB" cap="none" dirty="0"/>
              <a:t>, Marie-Catherine; Manning, Christopher D.; </a:t>
            </a:r>
            <a:r>
              <a:rPr lang="en-GB" cap="none" dirty="0" err="1"/>
              <a:t>Nivre</a:t>
            </a:r>
            <a:r>
              <a:rPr lang="en-GB" cap="none" dirty="0"/>
              <a:t>, Joakim &amp; Zeman, Daniel 2021. Universal dependencies. Computational Linguistics 47,2. 255-308. From the abstract:</a:t>
            </a:r>
          </a:p>
          <a:p>
            <a:pPr marL="0" indent="0">
              <a:buNone/>
            </a:pPr>
            <a:r>
              <a:rPr lang="en-GB" cap="none" dirty="0"/>
              <a:t>"Universal dependencies (UD) is a framework for </a:t>
            </a:r>
            <a:r>
              <a:rPr lang="en-GB" b="1" cap="none" dirty="0"/>
              <a:t>morphosyntactic annotation </a:t>
            </a:r>
            <a:r>
              <a:rPr lang="en-GB" cap="none" dirty="0"/>
              <a:t>of human language, which to date has been used to create treebanks for more than 100 languages. In this article, we outline the linguistic theory of the UD framework, which draws on a long tradition of </a:t>
            </a:r>
            <a:r>
              <a:rPr lang="en-GB" b="1" cap="none" dirty="0"/>
              <a:t>typologically oriented grammatical</a:t>
            </a:r>
            <a:r>
              <a:rPr lang="en-GB" cap="none" dirty="0"/>
              <a:t> theories. Grammatical relations </a:t>
            </a:r>
            <a:r>
              <a:rPr lang="en-GB" b="1" cap="none" dirty="0"/>
              <a:t>between words</a:t>
            </a:r>
            <a:r>
              <a:rPr lang="en-GB" cap="none" dirty="0"/>
              <a:t> are centrally used to explain how </a:t>
            </a:r>
            <a:r>
              <a:rPr lang="en-GB" b="1" cap="none" dirty="0"/>
              <a:t>predicate–argument structures are encoded </a:t>
            </a:r>
            <a:r>
              <a:rPr lang="en-GB" b="1" cap="none" dirty="0" err="1"/>
              <a:t>morphosyntactically</a:t>
            </a:r>
            <a:r>
              <a:rPr lang="en-GB" b="1" cap="none" dirty="0"/>
              <a:t> </a:t>
            </a:r>
            <a:r>
              <a:rPr lang="en-GB" cap="none" dirty="0"/>
              <a:t>in different languages while </a:t>
            </a:r>
            <a:r>
              <a:rPr lang="en-GB" b="1" cap="none" dirty="0"/>
              <a:t>morphological features and part-of-speech classes </a:t>
            </a:r>
            <a:r>
              <a:rPr lang="en-GB" cap="none" dirty="0"/>
              <a:t>give the properties of words. We argue that this theory is a good basis for </a:t>
            </a:r>
            <a:r>
              <a:rPr lang="en-GB" cap="none" dirty="0" err="1"/>
              <a:t>crosslinguistically</a:t>
            </a:r>
            <a:r>
              <a:rPr lang="en-GB" cap="none" dirty="0"/>
              <a:t> consistent annotation of typologically diverse languages in a way that supports </a:t>
            </a:r>
            <a:r>
              <a:rPr lang="en-GB" b="1" cap="none" dirty="0"/>
              <a:t>computational natural language understanding </a:t>
            </a:r>
            <a:r>
              <a:rPr lang="en-GB" cap="none" dirty="0"/>
              <a:t>as well as </a:t>
            </a:r>
            <a:r>
              <a:rPr lang="en-GB" b="1" cap="none" dirty="0"/>
              <a:t>broader linguistic studies</a:t>
            </a:r>
            <a:r>
              <a:rPr lang="en-GB" cap="none" dirty="0"/>
              <a:t>.”</a:t>
            </a:r>
          </a:p>
        </p:txBody>
      </p:sp>
    </p:spTree>
    <p:extLst>
      <p:ext uri="{BB962C8B-B14F-4D97-AF65-F5344CB8AC3E}">
        <p14:creationId xmlns:p14="http://schemas.microsoft.com/office/powerpoint/2010/main" val="1973663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3B129-18B5-A2E0-254D-C64376F01B56}"/>
              </a:ext>
            </a:extLst>
          </p:cNvPr>
          <p:cNvSpPr>
            <a:spLocks noGrp="1"/>
          </p:cNvSpPr>
          <p:nvPr>
            <p:ph type="title"/>
          </p:nvPr>
        </p:nvSpPr>
        <p:spPr/>
        <p:txBody>
          <a:bodyPr/>
          <a:lstStyle/>
          <a:p>
            <a:r>
              <a:rPr lang="en-GB" dirty="0"/>
              <a:t>Universal dependencies: basic tenets</a:t>
            </a:r>
          </a:p>
        </p:txBody>
      </p:sp>
      <p:sp>
        <p:nvSpPr>
          <p:cNvPr id="3" name="Content Placeholder 2">
            <a:extLst>
              <a:ext uri="{FF2B5EF4-FFF2-40B4-BE49-F238E27FC236}">
                <a16:creationId xmlns:a16="http://schemas.microsoft.com/office/drawing/2014/main" id="{080B303C-714C-AF27-200B-883850AD42D9}"/>
              </a:ext>
            </a:extLst>
          </p:cNvPr>
          <p:cNvSpPr>
            <a:spLocks noGrp="1"/>
          </p:cNvSpPr>
          <p:nvPr>
            <p:ph sz="quarter" idx="13"/>
          </p:nvPr>
        </p:nvSpPr>
        <p:spPr/>
        <p:txBody>
          <a:bodyPr/>
          <a:lstStyle/>
          <a:p>
            <a:r>
              <a:rPr lang="en-GB" b="1" cap="none" dirty="0"/>
              <a:t>Dependency grammar: head </a:t>
            </a:r>
            <a:r>
              <a:rPr lang="en-GB" cap="none" dirty="0"/>
              <a:t>and</a:t>
            </a:r>
            <a:r>
              <a:rPr lang="en-GB" b="1" cap="none" dirty="0"/>
              <a:t> dependent;</a:t>
            </a:r>
          </a:p>
          <a:p>
            <a:r>
              <a:rPr lang="en-GB" cap="none" dirty="0"/>
              <a:t>Three fundamental units: </a:t>
            </a:r>
            <a:r>
              <a:rPr lang="en-GB" b="1" cap="none" dirty="0"/>
              <a:t>nominal (entity)</a:t>
            </a:r>
            <a:r>
              <a:rPr lang="en-GB" cap="none" dirty="0"/>
              <a:t>, </a:t>
            </a:r>
            <a:r>
              <a:rPr lang="en-GB" b="1" cap="none" dirty="0"/>
              <a:t>clause (event) </a:t>
            </a:r>
            <a:r>
              <a:rPr lang="en-GB" cap="none" dirty="0"/>
              <a:t>and </a:t>
            </a:r>
            <a:r>
              <a:rPr lang="en-GB" b="1" cap="none" dirty="0"/>
              <a:t>modifier (attribute)</a:t>
            </a:r>
            <a:r>
              <a:rPr lang="en-GB" cap="none" dirty="0"/>
              <a:t>;</a:t>
            </a:r>
            <a:endParaRPr lang="en-GB" b="1" cap="none" dirty="0"/>
          </a:p>
          <a:p>
            <a:r>
              <a:rPr lang="en-GB" b="1" cap="none" dirty="0"/>
              <a:t>Words (</a:t>
            </a:r>
            <a:r>
              <a:rPr lang="en-GB" cap="none" dirty="0"/>
              <a:t>tokens</a:t>
            </a:r>
            <a:r>
              <a:rPr lang="en-GB" b="1" cap="none" dirty="0"/>
              <a:t>) as basic units;</a:t>
            </a:r>
          </a:p>
          <a:p>
            <a:r>
              <a:rPr lang="en-GB" b="1" cap="none" dirty="0"/>
              <a:t>Grammatical relations </a:t>
            </a:r>
            <a:r>
              <a:rPr lang="en-GB" cap="none" dirty="0"/>
              <a:t>are between </a:t>
            </a:r>
            <a:r>
              <a:rPr lang="en-GB" b="1" cap="none" dirty="0"/>
              <a:t>words.</a:t>
            </a:r>
          </a:p>
        </p:txBody>
      </p:sp>
    </p:spTree>
    <p:extLst>
      <p:ext uri="{BB962C8B-B14F-4D97-AF65-F5344CB8AC3E}">
        <p14:creationId xmlns:p14="http://schemas.microsoft.com/office/powerpoint/2010/main" val="1941466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E515D-5084-F776-C657-A72AC4AECADD}"/>
              </a:ext>
            </a:extLst>
          </p:cNvPr>
          <p:cNvSpPr>
            <a:spLocks noGrp="1"/>
          </p:cNvSpPr>
          <p:nvPr>
            <p:ph type="title"/>
          </p:nvPr>
        </p:nvSpPr>
        <p:spPr/>
        <p:txBody>
          <a:bodyPr/>
          <a:lstStyle/>
          <a:p>
            <a:r>
              <a:rPr lang="en-GB" dirty="0"/>
              <a:t>Universal dependencies: basic tenets</a:t>
            </a:r>
          </a:p>
        </p:txBody>
      </p:sp>
      <p:sp>
        <p:nvSpPr>
          <p:cNvPr id="3" name="Content Placeholder 2">
            <a:extLst>
              <a:ext uri="{FF2B5EF4-FFF2-40B4-BE49-F238E27FC236}">
                <a16:creationId xmlns:a16="http://schemas.microsoft.com/office/drawing/2014/main" id="{8F93C510-435B-F16E-9571-2EDB6D5F463E}"/>
              </a:ext>
            </a:extLst>
          </p:cNvPr>
          <p:cNvSpPr>
            <a:spLocks noGrp="1"/>
          </p:cNvSpPr>
          <p:nvPr>
            <p:ph sz="quarter" idx="13"/>
          </p:nvPr>
        </p:nvSpPr>
        <p:spPr/>
        <p:txBody>
          <a:bodyPr/>
          <a:lstStyle/>
          <a:p>
            <a:pPr marL="0" indent="0">
              <a:buNone/>
            </a:pPr>
            <a:r>
              <a:rPr lang="en-GB" b="1" cap="none" dirty="0"/>
              <a:t>Head and Dependents</a:t>
            </a:r>
          </a:p>
          <a:p>
            <a:pPr marL="457200" lvl="1" indent="0">
              <a:buNone/>
            </a:pPr>
            <a:r>
              <a:rPr lang="en-GB" b="1" cap="none" dirty="0"/>
              <a:t>Binary grammatical relation: </a:t>
            </a:r>
            <a:r>
              <a:rPr lang="en-GB" cap="none" dirty="0"/>
              <a:t>an arrow goes from the head to the dependent and is labelled for a grammatical relation.</a:t>
            </a:r>
          </a:p>
          <a:p>
            <a:pPr marL="457200" lvl="1" indent="0">
              <a:buNone/>
            </a:pPr>
            <a:r>
              <a:rPr lang="en-GB" b="1" cap="none" dirty="0"/>
              <a:t>How do we identify the head?</a:t>
            </a:r>
          </a:p>
          <a:p>
            <a:pPr marL="457200" lvl="1" indent="0">
              <a:buNone/>
            </a:pPr>
            <a:r>
              <a:rPr lang="en-GB" b="1" cap="none" dirty="0"/>
              <a:t>Nominal phrases: noun;</a:t>
            </a:r>
          </a:p>
          <a:p>
            <a:pPr marL="457200" lvl="1" indent="0">
              <a:buNone/>
            </a:pPr>
            <a:r>
              <a:rPr lang="en-GB" b="1" cap="none" dirty="0"/>
              <a:t>Clause: </a:t>
            </a:r>
            <a:r>
              <a:rPr lang="en-GB" cap="none" dirty="0"/>
              <a:t>usually </a:t>
            </a:r>
            <a:r>
              <a:rPr lang="en-GB" b="1" cap="none" dirty="0"/>
              <a:t>verbs</a:t>
            </a:r>
            <a:r>
              <a:rPr lang="en-GB" cap="none" dirty="0"/>
              <a:t>, but could be also </a:t>
            </a:r>
            <a:r>
              <a:rPr lang="en-GB" b="1" cap="none" dirty="0"/>
              <a:t>nominals</a:t>
            </a:r>
            <a:r>
              <a:rPr lang="en-GB" cap="none" dirty="0"/>
              <a:t> or </a:t>
            </a:r>
            <a:r>
              <a:rPr lang="en-GB" b="1" cap="none" dirty="0"/>
              <a:t>adjectives.</a:t>
            </a:r>
          </a:p>
          <a:p>
            <a:pPr marL="457200" lvl="1" indent="0">
              <a:buNone/>
            </a:pPr>
            <a:r>
              <a:rPr lang="en-GB" cap="none" dirty="0"/>
              <a:t>When in doubt, the element with most important </a:t>
            </a:r>
            <a:r>
              <a:rPr lang="en-GB" b="1" cap="none" dirty="0"/>
              <a:t>content/meaning</a:t>
            </a:r>
            <a:r>
              <a:rPr lang="en-GB" cap="none" dirty="0"/>
              <a:t> is the </a:t>
            </a:r>
            <a:r>
              <a:rPr lang="en-GB" b="1" cap="none" dirty="0"/>
              <a:t>head.</a:t>
            </a:r>
          </a:p>
        </p:txBody>
      </p:sp>
    </p:spTree>
    <p:extLst>
      <p:ext uri="{BB962C8B-B14F-4D97-AF65-F5344CB8AC3E}">
        <p14:creationId xmlns:p14="http://schemas.microsoft.com/office/powerpoint/2010/main" val="3341251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D4196-7075-98A5-9EF5-DD8BB47AD4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23BE2E-14CD-7B24-70C3-A39B1D0C359A}"/>
              </a:ext>
            </a:extLst>
          </p:cNvPr>
          <p:cNvSpPr>
            <a:spLocks noGrp="1"/>
          </p:cNvSpPr>
          <p:nvPr>
            <p:ph type="title"/>
          </p:nvPr>
        </p:nvSpPr>
        <p:spPr/>
        <p:txBody>
          <a:bodyPr/>
          <a:lstStyle/>
          <a:p>
            <a:r>
              <a:rPr lang="en-GB" dirty="0"/>
              <a:t>Universal dependencies: basic tenets</a:t>
            </a:r>
          </a:p>
        </p:txBody>
      </p:sp>
      <p:sp>
        <p:nvSpPr>
          <p:cNvPr id="3" name="Content Placeholder 2">
            <a:extLst>
              <a:ext uri="{FF2B5EF4-FFF2-40B4-BE49-F238E27FC236}">
                <a16:creationId xmlns:a16="http://schemas.microsoft.com/office/drawing/2014/main" id="{DBF9D8F7-0F21-DCE5-D4FC-D21A6A0AA116}"/>
              </a:ext>
            </a:extLst>
          </p:cNvPr>
          <p:cNvSpPr>
            <a:spLocks noGrp="1"/>
          </p:cNvSpPr>
          <p:nvPr>
            <p:ph sz="quarter" idx="13"/>
          </p:nvPr>
        </p:nvSpPr>
        <p:spPr/>
        <p:txBody>
          <a:bodyPr>
            <a:normAutofit lnSpcReduction="10000"/>
          </a:bodyPr>
          <a:lstStyle/>
          <a:p>
            <a:pPr marL="0" indent="0">
              <a:buNone/>
            </a:pPr>
            <a:r>
              <a:rPr lang="en-GB" b="1" cap="none" dirty="0"/>
              <a:t>Head and Dependents</a:t>
            </a:r>
          </a:p>
          <a:p>
            <a:pPr marL="457200" lvl="1" indent="0">
              <a:buNone/>
            </a:pPr>
            <a:r>
              <a:rPr lang="en-GB" b="1" cap="none" dirty="0"/>
              <a:t>Binary grammatical relation: </a:t>
            </a:r>
            <a:r>
              <a:rPr lang="en-GB" cap="none" dirty="0"/>
              <a:t>an arrow goes from the head to the dependent and is labelled for a grammatical relation.</a:t>
            </a:r>
          </a:p>
          <a:p>
            <a:pPr marL="457200" lvl="1" indent="0">
              <a:buNone/>
            </a:pPr>
            <a:r>
              <a:rPr lang="en-GB" b="1" cap="none" dirty="0"/>
              <a:t>How do we identify the head?</a:t>
            </a:r>
          </a:p>
          <a:p>
            <a:pPr marL="457200" lvl="1" indent="0">
              <a:buNone/>
            </a:pPr>
            <a:r>
              <a:rPr lang="en-GB" b="1" cap="none" dirty="0"/>
              <a:t>Nominal phrases: noun; </a:t>
            </a:r>
            <a:r>
              <a:rPr lang="en-GB" i="1" cap="none" dirty="0"/>
              <a:t>The good </a:t>
            </a:r>
            <a:r>
              <a:rPr lang="en-GB" b="1" i="1" cap="none" dirty="0"/>
              <a:t>doctor</a:t>
            </a:r>
          </a:p>
          <a:p>
            <a:pPr marL="457200" lvl="1" indent="0">
              <a:buNone/>
            </a:pPr>
            <a:r>
              <a:rPr lang="en-GB" b="1" cap="none" dirty="0"/>
              <a:t>Clause: </a:t>
            </a:r>
            <a:r>
              <a:rPr lang="en-GB" cap="none" dirty="0"/>
              <a:t>usually </a:t>
            </a:r>
            <a:r>
              <a:rPr lang="en-GB" b="1" cap="none" dirty="0"/>
              <a:t>verbs</a:t>
            </a:r>
            <a:r>
              <a:rPr lang="en-GB" cap="none" dirty="0"/>
              <a:t>, but could be also </a:t>
            </a:r>
            <a:r>
              <a:rPr lang="en-GB" b="1" cap="none" dirty="0"/>
              <a:t>nominals</a:t>
            </a:r>
            <a:r>
              <a:rPr lang="en-GB" cap="none" dirty="0"/>
              <a:t> or </a:t>
            </a:r>
            <a:r>
              <a:rPr lang="en-GB" b="1" cap="none" dirty="0"/>
              <a:t>adjectives. </a:t>
            </a:r>
            <a:r>
              <a:rPr lang="en-GB" i="1" cap="none" dirty="0"/>
              <a:t>The good doctor </a:t>
            </a:r>
            <a:r>
              <a:rPr lang="en-GB" b="1" i="1" cap="none" dirty="0"/>
              <a:t>visits</a:t>
            </a:r>
            <a:r>
              <a:rPr lang="en-GB" i="1" cap="none" dirty="0"/>
              <a:t> her patients</a:t>
            </a:r>
          </a:p>
          <a:p>
            <a:pPr marL="457200" lvl="1" indent="0">
              <a:buNone/>
            </a:pPr>
            <a:r>
              <a:rPr lang="en-GB" b="1" cap="none" dirty="0"/>
              <a:t>Adjectives: </a:t>
            </a:r>
            <a:r>
              <a:rPr lang="en-GB" i="1" cap="none" dirty="0"/>
              <a:t>The doctor is </a:t>
            </a:r>
            <a:r>
              <a:rPr lang="en-GB" b="1" i="1" cap="none" dirty="0"/>
              <a:t>good. </a:t>
            </a:r>
            <a:r>
              <a:rPr lang="en-GB" b="1" cap="none" dirty="0"/>
              <a:t>Nominals: </a:t>
            </a:r>
            <a:r>
              <a:rPr lang="en-GB" i="1" cap="none" dirty="0"/>
              <a:t>My sister is a good </a:t>
            </a:r>
            <a:r>
              <a:rPr lang="en-GB" b="1" i="1" cap="none" dirty="0"/>
              <a:t>doctor.</a:t>
            </a:r>
            <a:r>
              <a:rPr lang="en-GB" b="1" cap="none" dirty="0"/>
              <a:t>				</a:t>
            </a:r>
          </a:p>
          <a:p>
            <a:pPr marL="457200" lvl="1" indent="0">
              <a:buNone/>
            </a:pPr>
            <a:r>
              <a:rPr lang="en-GB" cap="none" dirty="0"/>
              <a:t>When in doubt, the element with most important </a:t>
            </a:r>
            <a:r>
              <a:rPr lang="en-GB" b="1" cap="none" dirty="0"/>
              <a:t>content/meaning</a:t>
            </a:r>
            <a:r>
              <a:rPr lang="en-GB" cap="none" dirty="0"/>
              <a:t> is the </a:t>
            </a:r>
            <a:r>
              <a:rPr lang="en-GB" b="1" cap="none" dirty="0"/>
              <a:t>head.</a:t>
            </a:r>
          </a:p>
          <a:p>
            <a:pPr marL="457200" lvl="1" indent="0" algn="ctr">
              <a:buNone/>
            </a:pPr>
            <a:r>
              <a:rPr lang="en-GB" i="1" cap="none" dirty="0"/>
              <a:t>The good doctor has </a:t>
            </a:r>
            <a:r>
              <a:rPr lang="en-GB" b="1" i="1" cap="none" dirty="0"/>
              <a:t>arrived</a:t>
            </a:r>
            <a:r>
              <a:rPr lang="en-GB" cap="none" dirty="0"/>
              <a:t>.</a:t>
            </a:r>
            <a:endParaRPr lang="en-GB" i="1" cap="none" dirty="0"/>
          </a:p>
        </p:txBody>
      </p:sp>
    </p:spTree>
    <p:extLst>
      <p:ext uri="{BB962C8B-B14F-4D97-AF65-F5344CB8AC3E}">
        <p14:creationId xmlns:p14="http://schemas.microsoft.com/office/powerpoint/2010/main" val="2856118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0B7DA-1187-DD2D-3EAB-4FDC3209115D}"/>
              </a:ext>
            </a:extLst>
          </p:cNvPr>
          <p:cNvSpPr>
            <a:spLocks noGrp="1"/>
          </p:cNvSpPr>
          <p:nvPr>
            <p:ph type="title"/>
          </p:nvPr>
        </p:nvSpPr>
        <p:spPr/>
        <p:txBody>
          <a:bodyPr/>
          <a:lstStyle/>
          <a:p>
            <a:r>
              <a:rPr lang="en-GB" dirty="0"/>
              <a:t>Universal dependencies: basic tenets</a:t>
            </a:r>
          </a:p>
        </p:txBody>
      </p:sp>
      <p:sp>
        <p:nvSpPr>
          <p:cNvPr id="3" name="Content Placeholder 2">
            <a:extLst>
              <a:ext uri="{FF2B5EF4-FFF2-40B4-BE49-F238E27FC236}">
                <a16:creationId xmlns:a16="http://schemas.microsoft.com/office/drawing/2014/main" id="{91831025-0F4C-F9B2-82CF-94F9B95E4960}"/>
              </a:ext>
            </a:extLst>
          </p:cNvPr>
          <p:cNvSpPr>
            <a:spLocks noGrp="1"/>
          </p:cNvSpPr>
          <p:nvPr>
            <p:ph sz="quarter" idx="13"/>
          </p:nvPr>
        </p:nvSpPr>
        <p:spPr/>
        <p:txBody>
          <a:bodyPr/>
          <a:lstStyle/>
          <a:p>
            <a:pPr marL="0" indent="0">
              <a:buNone/>
            </a:pPr>
            <a:r>
              <a:rPr lang="en-GB" b="1" cap="none" dirty="0"/>
              <a:t>Nominals, clause and modifiers</a:t>
            </a:r>
          </a:p>
          <a:p>
            <a:pPr marL="0" indent="0">
              <a:buNone/>
            </a:pPr>
            <a:r>
              <a:rPr lang="en-GB" b="1" cap="none" dirty="0"/>
              <a:t>Nominals: </a:t>
            </a:r>
            <a:r>
              <a:rPr lang="en-GB" cap="none" dirty="0"/>
              <a:t>default/canonical items for referring to an entity</a:t>
            </a:r>
          </a:p>
          <a:p>
            <a:pPr marL="0" indent="0">
              <a:buNone/>
            </a:pPr>
            <a:r>
              <a:rPr lang="en-GB" b="1" cap="none" dirty="0"/>
              <a:t>Clause</a:t>
            </a:r>
            <a:r>
              <a:rPr lang="en-GB" cap="none" dirty="0"/>
              <a:t>: default/canonical items for referring to event</a:t>
            </a:r>
          </a:p>
          <a:p>
            <a:pPr marL="0" indent="0">
              <a:buNone/>
            </a:pPr>
            <a:r>
              <a:rPr lang="en-GB" b="1" cap="none" dirty="0"/>
              <a:t>Modifiers</a:t>
            </a:r>
            <a:r>
              <a:rPr lang="en-GB" cap="none" dirty="0"/>
              <a:t>: default/canonical items for modifying a clause, a nominal or another modifier</a:t>
            </a:r>
          </a:p>
        </p:txBody>
      </p:sp>
    </p:spTree>
    <p:extLst>
      <p:ext uri="{BB962C8B-B14F-4D97-AF65-F5344CB8AC3E}">
        <p14:creationId xmlns:p14="http://schemas.microsoft.com/office/powerpoint/2010/main" val="3999823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B484F-C223-BF32-03A7-BD718B439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A4E33-B470-E4C0-95D6-E6CAB9F9F0A1}"/>
              </a:ext>
            </a:extLst>
          </p:cNvPr>
          <p:cNvSpPr>
            <a:spLocks noGrp="1"/>
          </p:cNvSpPr>
          <p:nvPr>
            <p:ph type="title"/>
          </p:nvPr>
        </p:nvSpPr>
        <p:spPr/>
        <p:txBody>
          <a:bodyPr/>
          <a:lstStyle/>
          <a:p>
            <a:r>
              <a:rPr lang="en-GB" dirty="0"/>
              <a:t>Universal dependencies: basic tenets</a:t>
            </a:r>
          </a:p>
        </p:txBody>
      </p:sp>
      <p:sp>
        <p:nvSpPr>
          <p:cNvPr id="3" name="Content Placeholder 2">
            <a:extLst>
              <a:ext uri="{FF2B5EF4-FFF2-40B4-BE49-F238E27FC236}">
                <a16:creationId xmlns:a16="http://schemas.microsoft.com/office/drawing/2014/main" id="{58A0CAA9-EF63-ABE0-049C-62B798AB7847}"/>
              </a:ext>
            </a:extLst>
          </p:cNvPr>
          <p:cNvSpPr>
            <a:spLocks noGrp="1"/>
          </p:cNvSpPr>
          <p:nvPr>
            <p:ph sz="quarter" idx="13"/>
          </p:nvPr>
        </p:nvSpPr>
        <p:spPr/>
        <p:txBody>
          <a:bodyPr/>
          <a:lstStyle/>
          <a:p>
            <a:pPr marL="0" indent="0">
              <a:buNone/>
            </a:pPr>
            <a:r>
              <a:rPr lang="en-GB" b="1" cap="none" dirty="0"/>
              <a:t>Nominals, clause and modifiers</a:t>
            </a:r>
          </a:p>
          <a:p>
            <a:pPr marL="0" indent="0">
              <a:buNone/>
            </a:pPr>
            <a:r>
              <a:rPr lang="en-GB" b="1" cap="none" dirty="0"/>
              <a:t>Nominals: </a:t>
            </a:r>
            <a:r>
              <a:rPr lang="en-GB" cap="none" dirty="0"/>
              <a:t>default items for referring to an entity </a:t>
            </a:r>
            <a:r>
              <a:rPr lang="en-GB" b="1" cap="none" dirty="0"/>
              <a:t>Reference</a:t>
            </a:r>
          </a:p>
          <a:p>
            <a:pPr marL="0" indent="0">
              <a:buNone/>
            </a:pPr>
            <a:r>
              <a:rPr lang="en-GB" b="1" cap="none" dirty="0"/>
              <a:t>Clause</a:t>
            </a:r>
            <a:r>
              <a:rPr lang="en-GB" cap="none" dirty="0"/>
              <a:t>: default items for referring to event </a:t>
            </a:r>
            <a:r>
              <a:rPr lang="en-GB" b="1" cap="none" dirty="0"/>
              <a:t>Predication</a:t>
            </a:r>
          </a:p>
          <a:p>
            <a:pPr marL="0" indent="0">
              <a:buNone/>
            </a:pPr>
            <a:r>
              <a:rPr lang="en-GB" b="1" cap="none" dirty="0"/>
              <a:t>Modifiers</a:t>
            </a:r>
            <a:r>
              <a:rPr lang="en-GB" cap="none" dirty="0"/>
              <a:t>: default items for modifying a clause, a nominal or another modifier </a:t>
            </a:r>
            <a:r>
              <a:rPr lang="en-GB" b="1" cap="none" dirty="0"/>
              <a:t>Modification</a:t>
            </a:r>
          </a:p>
          <a:p>
            <a:pPr marL="0" indent="0">
              <a:buNone/>
            </a:pPr>
            <a:r>
              <a:rPr lang="en-GB" cap="none" dirty="0"/>
              <a:t>This may remind some of you of </a:t>
            </a:r>
            <a:r>
              <a:rPr lang="en-GB" b="1" cap="none" dirty="0"/>
              <a:t>Croft’s propositional acts / information packaging functions!</a:t>
            </a:r>
            <a:endParaRPr lang="en-GB" cap="none" dirty="0"/>
          </a:p>
        </p:txBody>
      </p:sp>
    </p:spTree>
    <p:extLst>
      <p:ext uri="{BB962C8B-B14F-4D97-AF65-F5344CB8AC3E}">
        <p14:creationId xmlns:p14="http://schemas.microsoft.com/office/powerpoint/2010/main" val="1837264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7D56F-5017-070B-B6CC-E03C393F8E59}"/>
              </a:ext>
            </a:extLst>
          </p:cNvPr>
          <p:cNvSpPr>
            <a:spLocks noGrp="1"/>
          </p:cNvSpPr>
          <p:nvPr>
            <p:ph type="title"/>
          </p:nvPr>
        </p:nvSpPr>
        <p:spPr/>
        <p:txBody>
          <a:bodyPr/>
          <a:lstStyle/>
          <a:p>
            <a:r>
              <a:rPr lang="en-GB" dirty="0"/>
              <a:t>U</a:t>
            </a:r>
            <a:r>
              <a:rPr lang="en-DE" dirty="0"/>
              <a:t>niversal dependencies: conll-u files</a:t>
            </a:r>
          </a:p>
        </p:txBody>
      </p:sp>
      <p:sp>
        <p:nvSpPr>
          <p:cNvPr id="3" name="Content Placeholder 2">
            <a:extLst>
              <a:ext uri="{FF2B5EF4-FFF2-40B4-BE49-F238E27FC236}">
                <a16:creationId xmlns:a16="http://schemas.microsoft.com/office/drawing/2014/main" id="{96B0DADB-0BC4-4501-2729-EFD455E9B639}"/>
              </a:ext>
            </a:extLst>
          </p:cNvPr>
          <p:cNvSpPr>
            <a:spLocks noGrp="1"/>
          </p:cNvSpPr>
          <p:nvPr>
            <p:ph sz="quarter" idx="13"/>
          </p:nvPr>
        </p:nvSpPr>
        <p:spPr>
          <a:xfrm>
            <a:off x="913774" y="1845734"/>
            <a:ext cx="10363826" cy="4393750"/>
          </a:xfrm>
        </p:spPr>
        <p:txBody>
          <a:bodyPr>
            <a:normAutofit fontScale="70000" lnSpcReduction="20000"/>
          </a:bodyPr>
          <a:lstStyle/>
          <a:p>
            <a:pPr marL="0" indent="0">
              <a:buNone/>
            </a:pPr>
            <a:r>
              <a:rPr lang="en-DE" cap="none" dirty="0"/>
              <a:t>Ten fields for the annotation, separated by single tab characters:</a:t>
            </a:r>
          </a:p>
          <a:p>
            <a:pPr marL="457200" indent="-457200">
              <a:buFont typeface="+mj-lt"/>
              <a:buAutoNum type="arabicPeriod"/>
            </a:pPr>
            <a:r>
              <a:rPr lang="en-GB" cap="none" dirty="0"/>
              <a:t>ID: Word index, integer starting at 1 for each new sentence; may be a range for multiword tokens; may be a decimal number for empty nodes (decimal numbers can be lower than 1 but must be greater than 0).</a:t>
            </a:r>
          </a:p>
          <a:p>
            <a:pPr marL="457200" indent="-457200">
              <a:buFont typeface="+mj-lt"/>
              <a:buAutoNum type="arabicPeriod"/>
            </a:pPr>
            <a:r>
              <a:rPr lang="en-GB" cap="none" dirty="0"/>
              <a:t>FORM: Word form or punctuation symbol.</a:t>
            </a:r>
          </a:p>
          <a:p>
            <a:pPr marL="457200" indent="-457200">
              <a:buFont typeface="+mj-lt"/>
              <a:buAutoNum type="arabicPeriod"/>
            </a:pPr>
            <a:r>
              <a:rPr lang="en-GB" cap="none" dirty="0"/>
              <a:t>LEMMA: Lemma or stem of word form.</a:t>
            </a:r>
          </a:p>
          <a:p>
            <a:pPr marL="457200" indent="-457200">
              <a:buFont typeface="+mj-lt"/>
              <a:buAutoNum type="arabicPeriod"/>
            </a:pPr>
            <a:r>
              <a:rPr lang="en-GB" b="1" cap="none" dirty="0"/>
              <a:t>UPOS: Universal part-of-speech tag.</a:t>
            </a:r>
          </a:p>
          <a:p>
            <a:pPr marL="457200" indent="-457200">
              <a:buFont typeface="+mj-lt"/>
              <a:buAutoNum type="arabicPeriod"/>
            </a:pPr>
            <a:r>
              <a:rPr lang="en-GB" cap="none" dirty="0"/>
              <a:t>XPOS: Optional language-specific (or treebank-specific) part-of-speech / morphological tag; underscore if not available.</a:t>
            </a:r>
          </a:p>
          <a:p>
            <a:pPr marL="457200" indent="-457200">
              <a:buFont typeface="+mj-lt"/>
              <a:buAutoNum type="arabicPeriod"/>
            </a:pPr>
            <a:r>
              <a:rPr lang="en-GB" b="1" cap="none" dirty="0"/>
              <a:t>FEATS: List of morphological features from the universal feature inventory or from a defined language-specific extension; underscore if not available.</a:t>
            </a:r>
          </a:p>
          <a:p>
            <a:pPr marL="457200" indent="-457200">
              <a:buFont typeface="+mj-lt"/>
              <a:buAutoNum type="arabicPeriod"/>
            </a:pPr>
            <a:r>
              <a:rPr lang="en-GB" b="1" cap="none" dirty="0"/>
              <a:t>HEAD: Head of the current word, which is either a value of ID or zero (0).</a:t>
            </a:r>
          </a:p>
          <a:p>
            <a:pPr marL="457200" indent="-457200">
              <a:buFont typeface="+mj-lt"/>
              <a:buAutoNum type="arabicPeriod"/>
            </a:pPr>
            <a:r>
              <a:rPr lang="en-GB" b="1" cap="none" dirty="0"/>
              <a:t>DEPREL: Universal dependency relation to the HEAD (root </a:t>
            </a:r>
            <a:r>
              <a:rPr lang="en-GB" b="1" cap="none" dirty="0" err="1"/>
              <a:t>iff</a:t>
            </a:r>
            <a:r>
              <a:rPr lang="en-GB" b="1" cap="none" dirty="0"/>
              <a:t> HEAD = 0) or a defined language-specific subtype of one.</a:t>
            </a:r>
          </a:p>
          <a:p>
            <a:pPr marL="457200" indent="-457200">
              <a:buFont typeface="+mj-lt"/>
              <a:buAutoNum type="arabicPeriod"/>
            </a:pPr>
            <a:r>
              <a:rPr lang="en-GB" cap="none" dirty="0"/>
              <a:t>DEPS: Enhanced dependency graph in the form of a list of head-</a:t>
            </a:r>
            <a:r>
              <a:rPr lang="en-GB" cap="none" dirty="0" err="1"/>
              <a:t>deprel</a:t>
            </a:r>
            <a:r>
              <a:rPr lang="en-GB" cap="none" dirty="0"/>
              <a:t> pairs.</a:t>
            </a:r>
          </a:p>
          <a:p>
            <a:pPr marL="457200" indent="-457200">
              <a:buFont typeface="+mj-lt"/>
              <a:buAutoNum type="arabicPeriod"/>
            </a:pPr>
            <a:r>
              <a:rPr lang="en-GB" cap="none" dirty="0"/>
              <a:t>MISC: Any other annotation.</a:t>
            </a:r>
          </a:p>
          <a:p>
            <a:pPr marL="0" indent="0">
              <a:buNone/>
            </a:pPr>
            <a:endParaRPr lang="en-DE" cap="none" dirty="0"/>
          </a:p>
        </p:txBody>
      </p:sp>
    </p:spTree>
    <p:extLst>
      <p:ext uri="{BB962C8B-B14F-4D97-AF65-F5344CB8AC3E}">
        <p14:creationId xmlns:p14="http://schemas.microsoft.com/office/powerpoint/2010/main" val="1448879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435ED414-AE8A-69AC-CDA0-002362FE89F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8FE65CB-EFD8-497D-A30A-093E20EAC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hart&#10;&#10;Description automatically generated">
            <a:extLst>
              <a:ext uri="{FF2B5EF4-FFF2-40B4-BE49-F238E27FC236}">
                <a16:creationId xmlns:a16="http://schemas.microsoft.com/office/drawing/2014/main" id="{FDC3EB81-336B-F20C-81DC-63838CC98822}"/>
              </a:ext>
            </a:extLst>
          </p:cNvPr>
          <p:cNvPicPr>
            <a:picLocks noChangeAspect="1"/>
          </p:cNvPicPr>
          <p:nvPr/>
        </p:nvPicPr>
        <p:blipFill>
          <a:blip r:embed="rId3"/>
          <a:stretch>
            <a:fillRect/>
          </a:stretch>
        </p:blipFill>
        <p:spPr>
          <a:xfrm>
            <a:off x="643465" y="859679"/>
            <a:ext cx="6909479" cy="5147560"/>
          </a:xfrm>
          <a:prstGeom prst="roundRect">
            <a:avLst>
              <a:gd name="adj" fmla="val 298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17" name="Picture 16">
            <a:extLst>
              <a:ext uri="{FF2B5EF4-FFF2-40B4-BE49-F238E27FC236}">
                <a16:creationId xmlns:a16="http://schemas.microsoft.com/office/drawing/2014/main" id="{E3265C2A-0A58-43AD-A406-8F4478E287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5376E30-FF2C-E001-EBF0-5A180BDAF301}"/>
              </a:ext>
            </a:extLst>
          </p:cNvPr>
          <p:cNvSpPr>
            <a:spLocks noGrp="1"/>
          </p:cNvSpPr>
          <p:nvPr>
            <p:ph type="title"/>
          </p:nvPr>
        </p:nvSpPr>
        <p:spPr>
          <a:xfrm>
            <a:off x="8196408" y="640831"/>
            <a:ext cx="3352128" cy="1573863"/>
          </a:xfrm>
        </p:spPr>
        <p:txBody>
          <a:bodyPr>
            <a:normAutofit/>
          </a:bodyPr>
          <a:lstStyle/>
          <a:p>
            <a:pPr algn="l"/>
            <a:r>
              <a:rPr lang="en-GB" dirty="0"/>
              <a:t>Universal dependencies: basic tenets</a:t>
            </a:r>
            <a:endParaRPr lang="en-GB"/>
          </a:p>
        </p:txBody>
      </p:sp>
      <p:sp>
        <p:nvSpPr>
          <p:cNvPr id="3" name="Content Placeholder 2">
            <a:extLst>
              <a:ext uri="{FF2B5EF4-FFF2-40B4-BE49-F238E27FC236}">
                <a16:creationId xmlns:a16="http://schemas.microsoft.com/office/drawing/2014/main" id="{F3AF1346-1A4E-9491-D261-44320004C96D}"/>
              </a:ext>
            </a:extLst>
          </p:cNvPr>
          <p:cNvSpPr>
            <a:spLocks noGrp="1"/>
          </p:cNvSpPr>
          <p:nvPr>
            <p:ph sz="quarter" idx="13"/>
          </p:nvPr>
        </p:nvSpPr>
        <p:spPr>
          <a:xfrm>
            <a:off x="8196408" y="2367092"/>
            <a:ext cx="3352128" cy="3881309"/>
          </a:xfrm>
        </p:spPr>
        <p:txBody>
          <a:bodyPr>
            <a:normAutofit/>
          </a:bodyPr>
          <a:lstStyle/>
          <a:p>
            <a:pPr marL="0" indent="0">
              <a:buNone/>
            </a:pPr>
            <a:r>
              <a:rPr lang="en-GB" sz="2400" cap="none" dirty="0"/>
              <a:t>There is a fundamental distinction between Nominals and Clauses</a:t>
            </a:r>
          </a:p>
          <a:p>
            <a:pPr marL="0" indent="0">
              <a:buNone/>
            </a:pPr>
            <a:endParaRPr lang="en-GB" sz="1800" cap="none" dirty="0"/>
          </a:p>
        </p:txBody>
      </p:sp>
      <p:sp>
        <p:nvSpPr>
          <p:cNvPr id="10" name="TextBox 9">
            <a:extLst>
              <a:ext uri="{FF2B5EF4-FFF2-40B4-BE49-F238E27FC236}">
                <a16:creationId xmlns:a16="http://schemas.microsoft.com/office/drawing/2014/main" id="{352502DA-57AC-F0A4-C40D-7CD51AF3B316}"/>
              </a:ext>
            </a:extLst>
          </p:cNvPr>
          <p:cNvSpPr txBox="1"/>
          <p:nvPr/>
        </p:nvSpPr>
        <p:spPr>
          <a:xfrm>
            <a:off x="1016000" y="4523058"/>
            <a:ext cx="3265714" cy="1558428"/>
          </a:xfrm>
          <a:prstGeom prst="rect">
            <a:avLst/>
          </a:prstGeom>
          <a:noFill/>
        </p:spPr>
        <p:txBody>
          <a:bodyPr wrap="square" rtlCol="0">
            <a:spAutoFit/>
          </a:bodyPr>
          <a:lstStyle/>
          <a:p>
            <a:endParaRPr lang="en-DE" dirty="0"/>
          </a:p>
        </p:txBody>
      </p:sp>
    </p:spTree>
    <p:extLst>
      <p:ext uri="{BB962C8B-B14F-4D97-AF65-F5344CB8AC3E}">
        <p14:creationId xmlns:p14="http://schemas.microsoft.com/office/powerpoint/2010/main" val="3993396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D7CCC-75E5-C64E-4924-79B630C49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CA1BD-E746-283F-88E0-CF58527F5068}"/>
              </a:ext>
            </a:extLst>
          </p:cNvPr>
          <p:cNvSpPr>
            <a:spLocks noGrp="1"/>
          </p:cNvSpPr>
          <p:nvPr>
            <p:ph type="title"/>
          </p:nvPr>
        </p:nvSpPr>
        <p:spPr/>
        <p:txBody>
          <a:bodyPr/>
          <a:lstStyle/>
          <a:p>
            <a:r>
              <a:rPr lang="en-GB" dirty="0"/>
              <a:t>Universal dependencies: UPOS</a:t>
            </a:r>
            <a:endParaRPr lang="en-DE" dirty="0"/>
          </a:p>
        </p:txBody>
      </p:sp>
      <p:sp>
        <p:nvSpPr>
          <p:cNvPr id="3" name="Content Placeholder 2">
            <a:extLst>
              <a:ext uri="{FF2B5EF4-FFF2-40B4-BE49-F238E27FC236}">
                <a16:creationId xmlns:a16="http://schemas.microsoft.com/office/drawing/2014/main" id="{209F38D1-2F74-50E0-B1F9-6FF7385BE65B}"/>
              </a:ext>
            </a:extLst>
          </p:cNvPr>
          <p:cNvSpPr>
            <a:spLocks noGrp="1"/>
          </p:cNvSpPr>
          <p:nvPr>
            <p:ph sz="quarter" idx="13"/>
          </p:nvPr>
        </p:nvSpPr>
        <p:spPr>
          <a:xfrm>
            <a:off x="913774" y="1853514"/>
            <a:ext cx="10363826" cy="4646140"/>
          </a:xfrm>
        </p:spPr>
        <p:txBody>
          <a:bodyPr>
            <a:normAutofit/>
          </a:bodyPr>
          <a:lstStyle/>
          <a:p>
            <a:pPr marL="0" indent="0">
              <a:buNone/>
            </a:pPr>
            <a:r>
              <a:rPr lang="en-DE" b="1" cap="none" dirty="0"/>
              <a:t>Universal Parts of Speech (UPOS)</a:t>
            </a:r>
          </a:p>
          <a:p>
            <a:r>
              <a:rPr lang="en-DE" cap="none" dirty="0"/>
              <a:t>Words can be classified into categories: </a:t>
            </a:r>
            <a:r>
              <a:rPr lang="en-DE" b="1" cap="none" dirty="0"/>
              <a:t>lexical categories</a:t>
            </a:r>
            <a:r>
              <a:rPr lang="en-DE" cap="none" dirty="0"/>
              <a:t> aka </a:t>
            </a:r>
            <a:r>
              <a:rPr lang="en-DE" b="1" cap="none" dirty="0"/>
              <a:t>word categories </a:t>
            </a:r>
            <a:r>
              <a:rPr lang="en-DE" cap="none" dirty="0"/>
              <a:t>aka </a:t>
            </a:r>
            <a:r>
              <a:rPr lang="en-DE" b="1" cap="none" dirty="0"/>
              <a:t>parts of speech</a:t>
            </a:r>
            <a:r>
              <a:rPr lang="en-DE" cap="none" dirty="0"/>
              <a:t>.</a:t>
            </a:r>
          </a:p>
          <a:p>
            <a:r>
              <a:rPr lang="en-DE" cap="none" dirty="0"/>
              <a:t>These categories are not universal </a:t>
            </a:r>
            <a:r>
              <a:rPr lang="en-DE" b="1" cap="none" dirty="0"/>
              <a:t>but language-specific</a:t>
            </a:r>
            <a:r>
              <a:rPr lang="en-DE" cap="none" dirty="0"/>
              <a:t>. Still, if we want to use the same set of categories, </a:t>
            </a:r>
            <a:r>
              <a:rPr lang="en-DE" i="1" cap="none" dirty="0"/>
              <a:t>we have to live with that</a:t>
            </a:r>
            <a:r>
              <a:rPr lang="en-DE" cap="none" dirty="0"/>
              <a:t>. There are </a:t>
            </a:r>
            <a:r>
              <a:rPr lang="en-DE" b="1" cap="none" dirty="0"/>
              <a:t>17 UPOSes </a:t>
            </a:r>
            <a:r>
              <a:rPr lang="en-DE" cap="none" dirty="0"/>
              <a:t>in UD, defining both words and elements of text such as punctuations or symbols.</a:t>
            </a:r>
          </a:p>
          <a:p>
            <a:r>
              <a:rPr lang="en-DE" cap="none" dirty="0"/>
              <a:t>We fit </a:t>
            </a:r>
            <a:r>
              <a:rPr lang="en-DE" b="1" cap="none" dirty="0"/>
              <a:t>language-specific categories</a:t>
            </a:r>
            <a:r>
              <a:rPr lang="en-DE" cap="none" dirty="0"/>
              <a:t> into these universal categories using several approaches:</a:t>
            </a:r>
          </a:p>
          <a:p>
            <a:pPr lvl="1"/>
            <a:r>
              <a:rPr lang="en-GB" cap="none" dirty="0"/>
              <a:t>a semantic approach: </a:t>
            </a:r>
            <a:r>
              <a:rPr lang="en-GB" b="1" cap="none" dirty="0"/>
              <a:t>nouns </a:t>
            </a:r>
            <a:r>
              <a:rPr lang="en-GB" cap="none" dirty="0"/>
              <a:t>usually -&gt; </a:t>
            </a:r>
            <a:r>
              <a:rPr lang="en-GB" b="1" cap="none" dirty="0"/>
              <a:t>objects</a:t>
            </a:r>
            <a:r>
              <a:rPr lang="en-GB" cap="none" dirty="0"/>
              <a:t>, </a:t>
            </a:r>
            <a:r>
              <a:rPr lang="en-GB" b="1" cap="none" dirty="0"/>
              <a:t>verbs -&gt;</a:t>
            </a:r>
            <a:r>
              <a:rPr lang="en-GB" cap="none" dirty="0"/>
              <a:t> </a:t>
            </a:r>
            <a:r>
              <a:rPr lang="en-GB" b="1" cap="none" dirty="0"/>
              <a:t>actions</a:t>
            </a:r>
            <a:r>
              <a:rPr lang="en-GB" cap="none" dirty="0"/>
              <a:t> and </a:t>
            </a:r>
            <a:r>
              <a:rPr lang="en-GB" b="1" cap="none" dirty="0"/>
              <a:t>adjectives -&gt; properties</a:t>
            </a:r>
            <a:r>
              <a:rPr lang="en-GB" cap="none" dirty="0"/>
              <a:t>.</a:t>
            </a:r>
            <a:endParaRPr lang="en-DE" cap="none" dirty="0"/>
          </a:p>
          <a:p>
            <a:pPr lvl="1"/>
            <a:r>
              <a:rPr lang="en-GB" cap="none" dirty="0"/>
              <a:t>A </a:t>
            </a:r>
            <a:r>
              <a:rPr lang="en-GB" b="1" cap="none" dirty="0"/>
              <a:t>distributional</a:t>
            </a:r>
            <a:r>
              <a:rPr lang="en-GB" cap="none" dirty="0"/>
              <a:t> approach: </a:t>
            </a:r>
          </a:p>
          <a:p>
            <a:pPr lvl="2"/>
            <a:r>
              <a:rPr lang="en-GB" b="1" cap="none" dirty="0"/>
              <a:t>S</a:t>
            </a:r>
            <a:r>
              <a:rPr lang="en-DE" b="1" cap="none" dirty="0"/>
              <a:t>yntactic </a:t>
            </a:r>
            <a:r>
              <a:rPr lang="en-DE" cap="none" dirty="0"/>
              <a:t>and </a:t>
            </a:r>
            <a:r>
              <a:rPr lang="en-DE" b="1" cap="none" dirty="0"/>
              <a:t>morphological </a:t>
            </a:r>
            <a:r>
              <a:rPr lang="en-DE" cap="none" dirty="0"/>
              <a:t>properties: i.e., nouns usually pop up as </a:t>
            </a:r>
            <a:r>
              <a:rPr lang="en-DE" b="1" cap="none" dirty="0"/>
              <a:t>verbal arguments</a:t>
            </a:r>
            <a:r>
              <a:rPr lang="en-DE" cap="none" dirty="0"/>
              <a:t>, they inflect for given features in the language X, …</a:t>
            </a:r>
          </a:p>
        </p:txBody>
      </p:sp>
    </p:spTree>
    <p:extLst>
      <p:ext uri="{BB962C8B-B14F-4D97-AF65-F5344CB8AC3E}">
        <p14:creationId xmlns:p14="http://schemas.microsoft.com/office/powerpoint/2010/main" val="2112353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7292A3CB-F47F-1F48-B061-556E2C3454A4}"/>
            </a:ext>
          </a:extLst>
        </p:cNvPr>
        <p:cNvGrpSpPr/>
        <p:nvPr/>
      </p:nvGrpSpPr>
      <p:grpSpPr>
        <a:xfrm>
          <a:off x="0" y="0"/>
          <a:ext cx="0" cy="0"/>
          <a:chOff x="0" y="0"/>
          <a:chExt cx="0" cy="0"/>
        </a:xfrm>
      </p:grpSpPr>
      <p:pic>
        <p:nvPicPr>
          <p:cNvPr id="44"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46" name="Rectangle 45">
            <a:extLst>
              <a:ext uri="{FF2B5EF4-FFF2-40B4-BE49-F238E27FC236}">
                <a16:creationId xmlns:a16="http://schemas.microsoft.com/office/drawing/2014/main" id="{31CA2540-FD07-4286-91E4-8D0DE4E50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E3FEC46-5350-CFC0-841A-F885965D5AE1}"/>
              </a:ext>
            </a:extLst>
          </p:cNvPr>
          <p:cNvSpPr>
            <a:spLocks noGrp="1"/>
          </p:cNvSpPr>
          <p:nvPr>
            <p:ph type="title"/>
          </p:nvPr>
        </p:nvSpPr>
        <p:spPr>
          <a:xfrm>
            <a:off x="1126762" y="1227279"/>
            <a:ext cx="4328819" cy="2509213"/>
          </a:xfrm>
        </p:spPr>
        <p:txBody>
          <a:bodyPr vert="horz" lIns="91440" tIns="45720" rIns="91440" bIns="45720" rtlCol="0" anchor="b">
            <a:normAutofit/>
          </a:bodyPr>
          <a:lstStyle/>
          <a:p>
            <a:r>
              <a:rPr lang="en-US" sz="4800" dirty="0"/>
              <a:t>Universal dependencies: UPOS</a:t>
            </a:r>
          </a:p>
        </p:txBody>
      </p:sp>
      <p:pic>
        <p:nvPicPr>
          <p:cNvPr id="47" name="Picture 46">
            <a:extLst>
              <a:ext uri="{FF2B5EF4-FFF2-40B4-BE49-F238E27FC236}">
                <a16:creationId xmlns:a16="http://schemas.microsoft.com/office/drawing/2014/main" id="{214924F5-CDC2-4DFA-82F3-4843ADD678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55295" t="89389" r="26987" b="24"/>
          <a:stretch/>
        </p:blipFill>
        <p:spPr>
          <a:xfrm flipH="1">
            <a:off x="0" y="-1"/>
            <a:ext cx="2596444" cy="872709"/>
          </a:xfrm>
          <a:prstGeom prst="rect">
            <a:avLst/>
          </a:prstGeom>
        </p:spPr>
      </p:pic>
      <p:pic>
        <p:nvPicPr>
          <p:cNvPr id="48" name="Picture 47">
            <a:extLst>
              <a:ext uri="{FF2B5EF4-FFF2-40B4-BE49-F238E27FC236}">
                <a16:creationId xmlns:a16="http://schemas.microsoft.com/office/drawing/2014/main" id="{AED59812-6820-446C-B994-0D059C97DC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91927" t="72411" b="13751"/>
          <a:stretch/>
        </p:blipFill>
        <p:spPr>
          <a:xfrm>
            <a:off x="10473994" y="5564567"/>
            <a:ext cx="1341545"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5" name="Content Placeholder 4" descr="A list of words on a white background&#10;&#10;Description automatically generated">
            <a:extLst>
              <a:ext uri="{FF2B5EF4-FFF2-40B4-BE49-F238E27FC236}">
                <a16:creationId xmlns:a16="http://schemas.microsoft.com/office/drawing/2014/main" id="{C1665960-92BD-60DB-F9C4-15CBEDDA0C41}"/>
              </a:ext>
            </a:extLst>
          </p:cNvPr>
          <p:cNvPicPr>
            <a:picLocks noGrp="1" noChangeAspect="1"/>
          </p:cNvPicPr>
          <p:nvPr>
            <p:ph sz="quarter" idx="13"/>
          </p:nvPr>
        </p:nvPicPr>
        <p:blipFill>
          <a:blip r:embed="rId6"/>
          <a:stretch>
            <a:fillRect/>
          </a:stretch>
        </p:blipFill>
        <p:spPr>
          <a:xfrm>
            <a:off x="5597611" y="1227279"/>
            <a:ext cx="6216490" cy="4530970"/>
          </a:xfrm>
          <a:prstGeom prst="rect">
            <a:avLst/>
          </a:prstGeom>
        </p:spPr>
      </p:pic>
      <p:pic>
        <p:nvPicPr>
          <p:cNvPr id="43" name="Picture 42">
            <a:extLst>
              <a:ext uri="{FF2B5EF4-FFF2-40B4-BE49-F238E27FC236}">
                <a16:creationId xmlns:a16="http://schemas.microsoft.com/office/drawing/2014/main" id="{E844ED7C-1917-40D8-8B42-1B1C27BC5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3623" t="43915" r="1" b="18252"/>
          <a:stretch/>
        </p:blipFill>
        <p:spPr>
          <a:xfrm flipH="1">
            <a:off x="0" y="3142319"/>
            <a:ext cx="4605339" cy="3715682"/>
          </a:xfrm>
          <a:prstGeom prst="rect">
            <a:avLst/>
          </a:prstGeom>
        </p:spPr>
      </p:pic>
      <p:sp>
        <p:nvSpPr>
          <p:cNvPr id="6" name="TextBox 5">
            <a:extLst>
              <a:ext uri="{FF2B5EF4-FFF2-40B4-BE49-F238E27FC236}">
                <a16:creationId xmlns:a16="http://schemas.microsoft.com/office/drawing/2014/main" id="{95071C99-193D-B9CE-1624-D94F959BEA4B}"/>
              </a:ext>
            </a:extLst>
          </p:cNvPr>
          <p:cNvSpPr txBox="1"/>
          <p:nvPr/>
        </p:nvSpPr>
        <p:spPr>
          <a:xfrm>
            <a:off x="6421706" y="730419"/>
            <a:ext cx="4139514" cy="369332"/>
          </a:xfrm>
          <a:prstGeom prst="rect">
            <a:avLst/>
          </a:prstGeom>
          <a:noFill/>
        </p:spPr>
        <p:txBody>
          <a:bodyPr wrap="square" rtlCol="0">
            <a:spAutoFit/>
          </a:bodyPr>
          <a:lstStyle/>
          <a:p>
            <a:pPr algn="ctr"/>
            <a:r>
              <a:rPr lang="en-DE" sz="1800" b="1" cap="none" dirty="0"/>
              <a:t>Universal Parts of speech (UPOS)</a:t>
            </a:r>
          </a:p>
        </p:txBody>
      </p:sp>
      <p:sp>
        <p:nvSpPr>
          <p:cNvPr id="7" name="TextBox 6">
            <a:extLst>
              <a:ext uri="{FF2B5EF4-FFF2-40B4-BE49-F238E27FC236}">
                <a16:creationId xmlns:a16="http://schemas.microsoft.com/office/drawing/2014/main" id="{C0C8FCDD-BF6F-356B-5D3C-01762ACBF0B5}"/>
              </a:ext>
            </a:extLst>
          </p:cNvPr>
          <p:cNvSpPr txBox="1"/>
          <p:nvPr/>
        </p:nvSpPr>
        <p:spPr>
          <a:xfrm>
            <a:off x="1643449" y="6079524"/>
            <a:ext cx="9551773" cy="400110"/>
          </a:xfrm>
          <a:prstGeom prst="rect">
            <a:avLst/>
          </a:prstGeom>
          <a:noFill/>
        </p:spPr>
        <p:txBody>
          <a:bodyPr wrap="square" rtlCol="0">
            <a:spAutoFit/>
          </a:bodyPr>
          <a:lstStyle/>
          <a:p>
            <a:pPr algn="ctr"/>
            <a:r>
              <a:rPr lang="en-GB" sz="2000" dirty="0">
                <a:hlinkClick r:id="rId7"/>
              </a:rPr>
              <a:t>https://</a:t>
            </a:r>
            <a:r>
              <a:rPr lang="en-GB" sz="2000" dirty="0" err="1">
                <a:hlinkClick r:id="rId7"/>
              </a:rPr>
              <a:t>universaldependencies.org</a:t>
            </a:r>
            <a:r>
              <a:rPr lang="en-GB" sz="2000" dirty="0">
                <a:hlinkClick r:id="rId7"/>
              </a:rPr>
              <a:t>/u/</a:t>
            </a:r>
            <a:r>
              <a:rPr lang="en-GB" sz="2000" dirty="0" err="1">
                <a:hlinkClick r:id="rId7"/>
              </a:rPr>
              <a:t>pos</a:t>
            </a:r>
            <a:r>
              <a:rPr lang="en-GB" sz="2000" dirty="0">
                <a:hlinkClick r:id="rId7"/>
              </a:rPr>
              <a:t>/</a:t>
            </a:r>
            <a:r>
              <a:rPr lang="en-GB" sz="2000" dirty="0" err="1">
                <a:hlinkClick r:id="rId7"/>
              </a:rPr>
              <a:t>all.html</a:t>
            </a:r>
            <a:endParaRPr lang="en-GB" sz="2000" dirty="0"/>
          </a:p>
        </p:txBody>
      </p:sp>
    </p:spTree>
    <p:extLst>
      <p:ext uri="{BB962C8B-B14F-4D97-AF65-F5344CB8AC3E}">
        <p14:creationId xmlns:p14="http://schemas.microsoft.com/office/powerpoint/2010/main" val="4156119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2F3B-2580-FA96-0335-0A05F34B7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F5ACA-29AC-3408-ABDF-E3E2374AE7BD}"/>
              </a:ext>
            </a:extLst>
          </p:cNvPr>
          <p:cNvSpPr>
            <a:spLocks noGrp="1"/>
          </p:cNvSpPr>
          <p:nvPr>
            <p:ph type="title"/>
          </p:nvPr>
        </p:nvSpPr>
        <p:spPr/>
        <p:txBody>
          <a:bodyPr/>
          <a:lstStyle/>
          <a:p>
            <a:r>
              <a:rPr lang="en-GB" dirty="0"/>
              <a:t>Universal dependencies: Morphological features (feats)</a:t>
            </a:r>
            <a:endParaRPr lang="en-DE" dirty="0"/>
          </a:p>
        </p:txBody>
      </p:sp>
      <p:sp>
        <p:nvSpPr>
          <p:cNvPr id="3" name="Content Placeholder 2">
            <a:extLst>
              <a:ext uri="{FF2B5EF4-FFF2-40B4-BE49-F238E27FC236}">
                <a16:creationId xmlns:a16="http://schemas.microsoft.com/office/drawing/2014/main" id="{5A9E0210-F678-D6E5-0A5C-03DA80408DDF}"/>
              </a:ext>
            </a:extLst>
          </p:cNvPr>
          <p:cNvSpPr>
            <a:spLocks noGrp="1"/>
          </p:cNvSpPr>
          <p:nvPr>
            <p:ph sz="quarter" idx="13"/>
          </p:nvPr>
        </p:nvSpPr>
        <p:spPr>
          <a:xfrm>
            <a:off x="913774" y="1853514"/>
            <a:ext cx="10363826" cy="4646140"/>
          </a:xfrm>
        </p:spPr>
        <p:txBody>
          <a:bodyPr>
            <a:normAutofit/>
          </a:bodyPr>
          <a:lstStyle/>
          <a:p>
            <a:pPr marL="0" indent="0">
              <a:buNone/>
            </a:pPr>
            <a:r>
              <a:rPr lang="en-DE" b="1" cap="none" dirty="0"/>
              <a:t>Universal morphological features</a:t>
            </a:r>
          </a:p>
          <a:p>
            <a:r>
              <a:rPr lang="en-DE" cap="none" dirty="0"/>
              <a:t>As the name suggests, this annotation field concerns the </a:t>
            </a:r>
            <a:r>
              <a:rPr lang="en-DE" b="1" cap="none" dirty="0"/>
              <a:t>features of the word</a:t>
            </a:r>
            <a:r>
              <a:rPr lang="en-DE" cap="none" dirty="0"/>
              <a:t>: </a:t>
            </a:r>
            <a:r>
              <a:rPr lang="en-DE" b="1" cap="none" dirty="0"/>
              <a:t>nominal, adjectival and verbal categories</a:t>
            </a:r>
            <a:r>
              <a:rPr lang="en-DE" cap="none" dirty="0"/>
              <a:t> such as gender, degree and tense.</a:t>
            </a:r>
          </a:p>
          <a:p>
            <a:r>
              <a:rPr lang="en-DE" cap="none" dirty="0"/>
              <a:t>TBH, this is a bit of misnomer, as some of these features are actually syntactic features, so </a:t>
            </a:r>
            <a:r>
              <a:rPr lang="en-DE" b="1" cap="none" dirty="0"/>
              <a:t>morpho-syntactic features</a:t>
            </a:r>
            <a:r>
              <a:rPr lang="en-DE" cap="none" dirty="0"/>
              <a:t> should be a better term…</a:t>
            </a:r>
          </a:p>
          <a:p>
            <a:r>
              <a:rPr lang="en-DE" cap="none" dirty="0"/>
              <a:t>We can conceive this annotation field as a subset of the UPOS</a:t>
            </a:r>
          </a:p>
          <a:p>
            <a:pPr lvl="1"/>
            <a:r>
              <a:rPr lang="en-GB" cap="none" dirty="0"/>
              <a:t>F</a:t>
            </a:r>
            <a:r>
              <a:rPr lang="en-DE" cap="none" dirty="0"/>
              <a:t>or instance verbs (VERB) can be better described with the verbal form (VerbForm=) feature as Finite Verbs (Fin), Participles (Part), Gerund(ive)s (Ger), …</a:t>
            </a:r>
          </a:p>
          <a:p>
            <a:r>
              <a:rPr lang="en-DE" cap="none" dirty="0"/>
              <a:t>This is again something working at the </a:t>
            </a:r>
            <a:r>
              <a:rPr lang="en-DE" b="1" cap="none" dirty="0"/>
              <a:t>language-specific level</a:t>
            </a:r>
            <a:r>
              <a:rPr lang="en-DE" cap="none" dirty="0"/>
              <a:t> but with </a:t>
            </a:r>
            <a:r>
              <a:rPr lang="en-DE" b="1" cap="none" dirty="0"/>
              <a:t>a universal set of features.</a:t>
            </a:r>
          </a:p>
        </p:txBody>
      </p:sp>
    </p:spTree>
    <p:extLst>
      <p:ext uri="{BB962C8B-B14F-4D97-AF65-F5344CB8AC3E}">
        <p14:creationId xmlns:p14="http://schemas.microsoft.com/office/powerpoint/2010/main" val="3924771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F276C10E-AB2A-BCAA-6D62-9E2F848F7089}"/>
            </a:ext>
          </a:extLst>
        </p:cNvPr>
        <p:cNvGrpSpPr/>
        <p:nvPr/>
      </p:nvGrpSpPr>
      <p:grpSpPr>
        <a:xfrm>
          <a:off x="0" y="0"/>
          <a:ext cx="0" cy="0"/>
          <a:chOff x="0" y="0"/>
          <a:chExt cx="0" cy="0"/>
        </a:xfrm>
      </p:grpSpPr>
      <p:pic>
        <p:nvPicPr>
          <p:cNvPr id="44" name="Picture 2">
            <a:extLst>
              <a:ext uri="{FF2B5EF4-FFF2-40B4-BE49-F238E27FC236}">
                <a16:creationId xmlns:a16="http://schemas.microsoft.com/office/drawing/2014/main" id="{250F4C36-A3E8-BAA2-97F8-CD483E2A7D2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a:extLst>
              <a:ext uri="{FF2B5EF4-FFF2-40B4-BE49-F238E27FC236}">
                <a16:creationId xmlns:a16="http://schemas.microsoft.com/office/drawing/2014/main" id="{E136AC51-17C2-B063-3F36-9ACCCD679D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46" name="Rectangle 45">
            <a:extLst>
              <a:ext uri="{FF2B5EF4-FFF2-40B4-BE49-F238E27FC236}">
                <a16:creationId xmlns:a16="http://schemas.microsoft.com/office/drawing/2014/main" id="{E0A1BB15-3502-0AB9-0A6C-C6063BE5B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9EF2790-CD50-34B3-3536-14184A85FA86}"/>
              </a:ext>
            </a:extLst>
          </p:cNvPr>
          <p:cNvSpPr>
            <a:spLocks noGrp="1"/>
          </p:cNvSpPr>
          <p:nvPr>
            <p:ph type="title"/>
          </p:nvPr>
        </p:nvSpPr>
        <p:spPr>
          <a:xfrm>
            <a:off x="850242" y="1227279"/>
            <a:ext cx="4605339" cy="2787748"/>
          </a:xfrm>
        </p:spPr>
        <p:txBody>
          <a:bodyPr vert="horz" lIns="91440" tIns="45720" rIns="91440" bIns="45720" rtlCol="0" anchor="b">
            <a:normAutofit fontScale="90000"/>
          </a:bodyPr>
          <a:lstStyle/>
          <a:p>
            <a:r>
              <a:rPr lang="en-US" sz="4800" dirty="0"/>
              <a:t>Universal dependencies: Universal morphological features (FEATS)</a:t>
            </a:r>
          </a:p>
        </p:txBody>
      </p:sp>
      <p:pic>
        <p:nvPicPr>
          <p:cNvPr id="47" name="Picture 46">
            <a:extLst>
              <a:ext uri="{FF2B5EF4-FFF2-40B4-BE49-F238E27FC236}">
                <a16:creationId xmlns:a16="http://schemas.microsoft.com/office/drawing/2014/main" id="{8D7C60A3-9989-3FCC-8018-EF234DDCC9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55295" t="89389" r="26987" b="24"/>
          <a:stretch/>
        </p:blipFill>
        <p:spPr>
          <a:xfrm flipH="1">
            <a:off x="0" y="-1"/>
            <a:ext cx="2596444" cy="872709"/>
          </a:xfrm>
          <a:prstGeom prst="rect">
            <a:avLst/>
          </a:prstGeom>
        </p:spPr>
      </p:pic>
      <p:pic>
        <p:nvPicPr>
          <p:cNvPr id="48" name="Picture 47">
            <a:extLst>
              <a:ext uri="{FF2B5EF4-FFF2-40B4-BE49-F238E27FC236}">
                <a16:creationId xmlns:a16="http://schemas.microsoft.com/office/drawing/2014/main" id="{05AA487C-9509-A13A-8A05-70AA74D2AD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91927" t="72411" b="13751"/>
          <a:stretch/>
        </p:blipFill>
        <p:spPr>
          <a:xfrm>
            <a:off x="10473994" y="5564567"/>
            <a:ext cx="1341545"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5" name="Content Placeholder 4">
            <a:extLst>
              <a:ext uri="{FF2B5EF4-FFF2-40B4-BE49-F238E27FC236}">
                <a16:creationId xmlns:a16="http://schemas.microsoft.com/office/drawing/2014/main" id="{8048BDE2-F5B8-C278-3A92-158AD07151A5}"/>
              </a:ext>
            </a:extLst>
          </p:cNvPr>
          <p:cNvPicPr>
            <a:picLocks noGrp="1" noChangeAspect="1"/>
          </p:cNvPicPr>
          <p:nvPr>
            <p:ph sz="quarter" idx="13"/>
          </p:nvPr>
        </p:nvPicPr>
        <p:blipFill>
          <a:blip r:embed="rId6"/>
          <a:srcRect/>
          <a:stretch/>
        </p:blipFill>
        <p:spPr>
          <a:xfrm>
            <a:off x="5343309" y="1227278"/>
            <a:ext cx="6470792" cy="4716321"/>
          </a:xfrm>
          <a:prstGeom prst="rect">
            <a:avLst/>
          </a:prstGeom>
        </p:spPr>
      </p:pic>
      <p:pic>
        <p:nvPicPr>
          <p:cNvPr id="43" name="Picture 42">
            <a:extLst>
              <a:ext uri="{FF2B5EF4-FFF2-40B4-BE49-F238E27FC236}">
                <a16:creationId xmlns:a16="http://schemas.microsoft.com/office/drawing/2014/main" id="{0D812833-B6B2-6DC6-C085-445EF0AD5F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3623" t="43915" r="1" b="18252"/>
          <a:stretch/>
        </p:blipFill>
        <p:spPr>
          <a:xfrm flipH="1">
            <a:off x="0" y="3142319"/>
            <a:ext cx="4605339" cy="3715682"/>
          </a:xfrm>
          <a:prstGeom prst="rect">
            <a:avLst/>
          </a:prstGeom>
        </p:spPr>
      </p:pic>
      <p:sp>
        <p:nvSpPr>
          <p:cNvPr id="6" name="TextBox 5">
            <a:extLst>
              <a:ext uri="{FF2B5EF4-FFF2-40B4-BE49-F238E27FC236}">
                <a16:creationId xmlns:a16="http://schemas.microsoft.com/office/drawing/2014/main" id="{492680AC-1E32-6942-D7DF-73FEA7D4C44A}"/>
              </a:ext>
            </a:extLst>
          </p:cNvPr>
          <p:cNvSpPr txBox="1"/>
          <p:nvPr/>
        </p:nvSpPr>
        <p:spPr>
          <a:xfrm>
            <a:off x="6421706" y="730419"/>
            <a:ext cx="4139514" cy="369332"/>
          </a:xfrm>
          <a:prstGeom prst="rect">
            <a:avLst/>
          </a:prstGeom>
          <a:noFill/>
        </p:spPr>
        <p:txBody>
          <a:bodyPr wrap="square" rtlCol="0">
            <a:spAutoFit/>
          </a:bodyPr>
          <a:lstStyle/>
          <a:p>
            <a:pPr algn="ctr"/>
            <a:r>
              <a:rPr lang="en-DE" sz="1800" b="1" cap="none" dirty="0"/>
              <a:t>Universal Morphological features</a:t>
            </a:r>
          </a:p>
        </p:txBody>
      </p:sp>
      <p:sp>
        <p:nvSpPr>
          <p:cNvPr id="4" name="TextBox 3">
            <a:extLst>
              <a:ext uri="{FF2B5EF4-FFF2-40B4-BE49-F238E27FC236}">
                <a16:creationId xmlns:a16="http://schemas.microsoft.com/office/drawing/2014/main" id="{FE004BCE-FC58-8155-FB89-0F73E0B74643}"/>
              </a:ext>
            </a:extLst>
          </p:cNvPr>
          <p:cNvSpPr txBox="1"/>
          <p:nvPr/>
        </p:nvSpPr>
        <p:spPr>
          <a:xfrm>
            <a:off x="3637966" y="6113504"/>
            <a:ext cx="6098058" cy="400110"/>
          </a:xfrm>
          <a:prstGeom prst="rect">
            <a:avLst/>
          </a:prstGeom>
          <a:noFill/>
        </p:spPr>
        <p:txBody>
          <a:bodyPr wrap="square">
            <a:spAutoFit/>
          </a:bodyPr>
          <a:lstStyle/>
          <a:p>
            <a:r>
              <a:rPr lang="en-GB" sz="2000" dirty="0">
                <a:hlinkClick r:id="rId7"/>
              </a:rPr>
              <a:t>https://</a:t>
            </a:r>
            <a:r>
              <a:rPr lang="en-GB" sz="2000" dirty="0" err="1">
                <a:hlinkClick r:id="rId7"/>
              </a:rPr>
              <a:t>universaldependencies.org</a:t>
            </a:r>
            <a:r>
              <a:rPr lang="en-GB" sz="2000" dirty="0">
                <a:hlinkClick r:id="rId7"/>
              </a:rPr>
              <a:t>/u/feat/</a:t>
            </a:r>
            <a:r>
              <a:rPr lang="en-GB" sz="2000" dirty="0" err="1">
                <a:hlinkClick r:id="rId7"/>
              </a:rPr>
              <a:t>all.html</a:t>
            </a:r>
            <a:endParaRPr lang="en-GB" sz="2000" dirty="0"/>
          </a:p>
        </p:txBody>
      </p:sp>
    </p:spTree>
    <p:extLst>
      <p:ext uri="{BB962C8B-B14F-4D97-AF65-F5344CB8AC3E}">
        <p14:creationId xmlns:p14="http://schemas.microsoft.com/office/powerpoint/2010/main" val="2667493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8FE65CB-EFD8-497D-A30A-093E20EAC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hart&#10;&#10;Description automatically generated">
            <a:extLst>
              <a:ext uri="{FF2B5EF4-FFF2-40B4-BE49-F238E27FC236}">
                <a16:creationId xmlns:a16="http://schemas.microsoft.com/office/drawing/2014/main" id="{BB00A3A9-2963-B20B-F7E0-B02BED3D65B7}"/>
              </a:ext>
            </a:extLst>
          </p:cNvPr>
          <p:cNvPicPr>
            <a:picLocks noChangeAspect="1"/>
          </p:cNvPicPr>
          <p:nvPr/>
        </p:nvPicPr>
        <p:blipFill>
          <a:blip r:embed="rId3"/>
          <a:stretch>
            <a:fillRect/>
          </a:stretch>
        </p:blipFill>
        <p:spPr>
          <a:xfrm>
            <a:off x="5248643" y="1024818"/>
            <a:ext cx="6299887" cy="4693414"/>
          </a:xfrm>
          <a:prstGeom prst="rect">
            <a:avLst/>
          </a:prstGeom>
          <a:scene3d>
            <a:camera prst="orthographicFront"/>
            <a:lightRig rig="threePt" dir="t">
              <a:rot lat="0" lon="0" rev="2700000"/>
            </a:lightRig>
          </a:scene3d>
          <a:sp3d contourW="6350">
            <a:bevelT h="38100"/>
            <a:contourClr>
              <a:srgbClr val="C0C0C0"/>
            </a:contourClr>
          </a:sp3d>
        </p:spPr>
      </p:pic>
      <p:pic>
        <p:nvPicPr>
          <p:cNvPr id="27" name="Picture 26">
            <a:extLst>
              <a:ext uri="{FF2B5EF4-FFF2-40B4-BE49-F238E27FC236}">
                <a16:creationId xmlns:a16="http://schemas.microsoft.com/office/drawing/2014/main" id="{00E374F5-52B2-4260-8B1C-54237931F06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62EF5A7E-7529-EEDD-50E3-FBBEE207EBDB}"/>
              </a:ext>
            </a:extLst>
          </p:cNvPr>
          <p:cNvSpPr>
            <a:spLocks noGrp="1"/>
          </p:cNvSpPr>
          <p:nvPr>
            <p:ph sz="quarter" idx="13"/>
          </p:nvPr>
        </p:nvSpPr>
        <p:spPr>
          <a:xfrm>
            <a:off x="913774" y="1845734"/>
            <a:ext cx="3740509" cy="4402668"/>
          </a:xfrm>
        </p:spPr>
        <p:txBody>
          <a:bodyPr>
            <a:normAutofit fontScale="85000" lnSpcReduction="10000"/>
          </a:bodyPr>
          <a:lstStyle/>
          <a:p>
            <a:pPr>
              <a:lnSpc>
                <a:spcPct val="110000"/>
              </a:lnSpc>
            </a:pPr>
            <a:r>
              <a:rPr lang="en-DE" sz="1800" cap="none" dirty="0"/>
              <a:t>UPOS and Morphological Features ‘work’ without any other tokens, describing only some features of the annotated token;</a:t>
            </a:r>
          </a:p>
          <a:p>
            <a:pPr>
              <a:lnSpc>
                <a:spcPct val="110000"/>
              </a:lnSpc>
            </a:pPr>
            <a:r>
              <a:rPr lang="en-DE" sz="1800" cap="none" dirty="0"/>
              <a:t>UD Relations, as the name implies, need exactly two tokens to work: the annotated token and its head;</a:t>
            </a:r>
          </a:p>
          <a:p>
            <a:pPr>
              <a:lnSpc>
                <a:spcPct val="110000"/>
              </a:lnSpc>
            </a:pPr>
            <a:r>
              <a:rPr lang="en-GB" sz="1800" cap="none" dirty="0"/>
              <a:t>T</a:t>
            </a:r>
            <a:r>
              <a:rPr lang="en-DE" sz="1800" cap="none" dirty="0"/>
              <a:t>he only element without a head is the root token, which is unique to each sentence and the mother of all other tokens.</a:t>
            </a:r>
          </a:p>
          <a:p>
            <a:pPr>
              <a:lnSpc>
                <a:spcPct val="110000"/>
              </a:lnSpc>
            </a:pPr>
            <a:r>
              <a:rPr lang="en-DE" sz="1800" cap="none" dirty="0"/>
              <a:t>Two fields/columns:</a:t>
            </a:r>
          </a:p>
          <a:p>
            <a:pPr lvl="1">
              <a:lnSpc>
                <a:spcPct val="110000"/>
              </a:lnSpc>
            </a:pPr>
            <a:r>
              <a:rPr lang="en-GB" b="1" cap="none" dirty="0"/>
              <a:t>H</a:t>
            </a:r>
            <a:r>
              <a:rPr lang="en-DE" b="1" cap="none" dirty="0"/>
              <a:t>ead</a:t>
            </a:r>
            <a:r>
              <a:rPr lang="en-DE" cap="none" dirty="0"/>
              <a:t>: ID of the head of the token;</a:t>
            </a:r>
          </a:p>
          <a:p>
            <a:pPr lvl="1">
              <a:lnSpc>
                <a:spcPct val="110000"/>
              </a:lnSpc>
            </a:pPr>
            <a:r>
              <a:rPr lang="en-DE" b="1" cap="none" dirty="0"/>
              <a:t>Deprel</a:t>
            </a:r>
            <a:r>
              <a:rPr lang="en-DE" cap="none" dirty="0"/>
              <a:t>: UD offers 37 Relations to describe the relation between the token and its head.</a:t>
            </a:r>
          </a:p>
          <a:p>
            <a:pPr>
              <a:lnSpc>
                <a:spcPct val="110000"/>
              </a:lnSpc>
            </a:pPr>
            <a:endParaRPr lang="en-DE" sz="1500" cap="none" dirty="0"/>
          </a:p>
          <a:p>
            <a:pPr marL="0" indent="0">
              <a:lnSpc>
                <a:spcPct val="110000"/>
              </a:lnSpc>
              <a:buNone/>
            </a:pPr>
            <a:endParaRPr lang="en-DE" sz="1500" cap="none" dirty="0"/>
          </a:p>
        </p:txBody>
      </p:sp>
      <p:sp>
        <p:nvSpPr>
          <p:cNvPr id="2" name="Title 1">
            <a:extLst>
              <a:ext uri="{FF2B5EF4-FFF2-40B4-BE49-F238E27FC236}">
                <a16:creationId xmlns:a16="http://schemas.microsoft.com/office/drawing/2014/main" id="{7A1A3F97-7448-B763-84D4-4BDB90D82644}"/>
              </a:ext>
            </a:extLst>
          </p:cNvPr>
          <p:cNvSpPr>
            <a:spLocks noGrp="1"/>
          </p:cNvSpPr>
          <p:nvPr>
            <p:ph type="title"/>
          </p:nvPr>
        </p:nvSpPr>
        <p:spPr>
          <a:xfrm>
            <a:off x="913774" y="640831"/>
            <a:ext cx="3740515" cy="1573863"/>
          </a:xfrm>
        </p:spPr>
        <p:txBody>
          <a:bodyPr>
            <a:normAutofit/>
          </a:bodyPr>
          <a:lstStyle/>
          <a:p>
            <a:pPr algn="l"/>
            <a:r>
              <a:rPr lang="en-DE" sz="2500" dirty="0"/>
              <a:t>Universal dependencies: relations (HEAD+DEPREL)</a:t>
            </a:r>
          </a:p>
        </p:txBody>
      </p:sp>
    </p:spTree>
    <p:extLst>
      <p:ext uri="{BB962C8B-B14F-4D97-AF65-F5344CB8AC3E}">
        <p14:creationId xmlns:p14="http://schemas.microsoft.com/office/powerpoint/2010/main" val="480161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160EE-0DC7-2025-E650-8BF4FA6610A3}"/>
              </a:ext>
            </a:extLst>
          </p:cNvPr>
          <p:cNvSpPr>
            <a:spLocks noGrp="1"/>
          </p:cNvSpPr>
          <p:nvPr>
            <p:ph type="title"/>
          </p:nvPr>
        </p:nvSpPr>
        <p:spPr/>
        <p:txBody>
          <a:bodyPr/>
          <a:lstStyle/>
          <a:p>
            <a:r>
              <a:rPr lang="en-DE" dirty="0"/>
              <a:t>Universal dependencies: relations </a:t>
            </a:r>
            <a:br>
              <a:rPr lang="en-DE" dirty="0"/>
            </a:br>
            <a:r>
              <a:rPr lang="en-DE" dirty="0"/>
              <a:t>Some examples</a:t>
            </a:r>
          </a:p>
        </p:txBody>
      </p:sp>
      <p:sp>
        <p:nvSpPr>
          <p:cNvPr id="3" name="Content Placeholder 2">
            <a:extLst>
              <a:ext uri="{FF2B5EF4-FFF2-40B4-BE49-F238E27FC236}">
                <a16:creationId xmlns:a16="http://schemas.microsoft.com/office/drawing/2014/main" id="{23196930-4EF6-630C-A0DE-77C1D6FCD815}"/>
              </a:ext>
            </a:extLst>
          </p:cNvPr>
          <p:cNvSpPr>
            <a:spLocks noGrp="1"/>
          </p:cNvSpPr>
          <p:nvPr>
            <p:ph sz="quarter" idx="13"/>
          </p:nvPr>
        </p:nvSpPr>
        <p:spPr>
          <a:xfrm>
            <a:off x="913774" y="2367093"/>
            <a:ext cx="10363826" cy="838332"/>
          </a:xfrm>
        </p:spPr>
        <p:txBody>
          <a:bodyPr/>
          <a:lstStyle/>
          <a:p>
            <a:pPr marL="0" indent="0">
              <a:buNone/>
            </a:pPr>
            <a:r>
              <a:rPr lang="en-DE" cap="none" dirty="0"/>
              <a:t>Nominal modification (nmod: a relation between two nouns), adpositions (case: syntactic case marking) and adjectival modification (amod: modification by adjectives).</a:t>
            </a:r>
          </a:p>
        </p:txBody>
      </p:sp>
      <p:sp>
        <p:nvSpPr>
          <p:cNvPr id="4" name="TextBox 3">
            <a:extLst>
              <a:ext uri="{FF2B5EF4-FFF2-40B4-BE49-F238E27FC236}">
                <a16:creationId xmlns:a16="http://schemas.microsoft.com/office/drawing/2014/main" id="{681C8B1D-4DD6-4F27-F074-A9AD2118847F}"/>
              </a:ext>
            </a:extLst>
          </p:cNvPr>
          <p:cNvSpPr txBox="1"/>
          <p:nvPr/>
        </p:nvSpPr>
        <p:spPr>
          <a:xfrm>
            <a:off x="833387" y="4016123"/>
            <a:ext cx="7999115" cy="1600438"/>
          </a:xfrm>
          <a:prstGeom prst="rect">
            <a:avLst/>
          </a:prstGeom>
          <a:noFill/>
        </p:spPr>
        <p:txBody>
          <a:bodyPr wrap="square" rtlCol="0">
            <a:spAutoFit/>
          </a:bodyPr>
          <a:lstStyle/>
          <a:p>
            <a:r>
              <a:rPr lang="en-GB" sz="1400" dirty="0"/>
              <a:t># text = Harry's fancy bar.</a:t>
            </a:r>
          </a:p>
          <a:p>
            <a:r>
              <a:rPr lang="en-GB" sz="1400" dirty="0"/>
              <a:t>1-2	Harry's	_	_	_	_	_	_	_	_</a:t>
            </a:r>
          </a:p>
          <a:p>
            <a:r>
              <a:rPr lang="en-GB" sz="1400" dirty="0"/>
              <a:t>1	Harry	Harry	PROPN	SG	Number=Sing	4	</a:t>
            </a:r>
            <a:r>
              <a:rPr lang="en-GB" sz="1400" dirty="0" err="1"/>
              <a:t>nmod:poss</a:t>
            </a:r>
            <a:r>
              <a:rPr lang="en-GB" sz="1400" dirty="0"/>
              <a:t>	_	_</a:t>
            </a:r>
          </a:p>
          <a:p>
            <a:r>
              <a:rPr lang="en-GB" sz="1400" dirty="0"/>
              <a:t>2	's	's	PART	GEN	_	1	case	_	_</a:t>
            </a:r>
          </a:p>
          <a:p>
            <a:r>
              <a:rPr lang="en-GB" sz="1400" dirty="0"/>
              <a:t>3	fancy	fancy	ADJ	POS	Degree=Pos	4	</a:t>
            </a:r>
            <a:r>
              <a:rPr lang="en-GB" sz="1400" dirty="0" err="1"/>
              <a:t>amod</a:t>
            </a:r>
            <a:r>
              <a:rPr lang="en-GB" sz="1400" dirty="0"/>
              <a:t>	_	_</a:t>
            </a:r>
          </a:p>
          <a:p>
            <a:r>
              <a:rPr lang="en-GB" sz="1400" dirty="0"/>
              <a:t>4	bar	bar	NOUN	SG-NOM	Number=Sing	0	root	_	</a:t>
            </a:r>
            <a:r>
              <a:rPr lang="en-GB" sz="1400" dirty="0" err="1"/>
              <a:t>SpaceAfter</a:t>
            </a:r>
            <a:r>
              <a:rPr lang="en-GB" sz="1400" dirty="0"/>
              <a:t>=No</a:t>
            </a:r>
          </a:p>
          <a:p>
            <a:r>
              <a:rPr lang="en-GB" sz="1400" dirty="0"/>
              <a:t>5	.	.	PUNCT	Period	_	4	</a:t>
            </a:r>
            <a:r>
              <a:rPr lang="en-GB" sz="1400" dirty="0" err="1"/>
              <a:t>punct</a:t>
            </a:r>
            <a:r>
              <a:rPr lang="en-GB" sz="1400" dirty="0"/>
              <a:t>	_	</a:t>
            </a:r>
            <a:r>
              <a:rPr lang="en-GB" sz="1400" dirty="0" err="1"/>
              <a:t>SpaceAfter</a:t>
            </a:r>
            <a:r>
              <a:rPr lang="en-GB" sz="1400" dirty="0"/>
              <a:t>=No</a:t>
            </a:r>
            <a:endParaRPr lang="en-DE" sz="1400" dirty="0"/>
          </a:p>
        </p:txBody>
      </p:sp>
      <p:pic>
        <p:nvPicPr>
          <p:cNvPr id="7" name="Picture 6">
            <a:extLst>
              <a:ext uri="{FF2B5EF4-FFF2-40B4-BE49-F238E27FC236}">
                <a16:creationId xmlns:a16="http://schemas.microsoft.com/office/drawing/2014/main" id="{D858CDD3-949D-B1CE-907F-5E173C398F4E}"/>
              </a:ext>
            </a:extLst>
          </p:cNvPr>
          <p:cNvPicPr>
            <a:picLocks noChangeAspect="1"/>
          </p:cNvPicPr>
          <p:nvPr/>
        </p:nvPicPr>
        <p:blipFill>
          <a:blip r:embed="rId3"/>
          <a:srcRect/>
          <a:stretch/>
        </p:blipFill>
        <p:spPr>
          <a:xfrm>
            <a:off x="8501952" y="3564413"/>
            <a:ext cx="3086100" cy="2619596"/>
          </a:xfrm>
          <a:prstGeom prst="rect">
            <a:avLst/>
          </a:prstGeom>
        </p:spPr>
      </p:pic>
    </p:spTree>
    <p:extLst>
      <p:ext uri="{BB962C8B-B14F-4D97-AF65-F5344CB8AC3E}">
        <p14:creationId xmlns:p14="http://schemas.microsoft.com/office/powerpoint/2010/main" val="3495154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29B24-616E-81A2-1E5D-988E75986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72617-EA95-1D8D-CEFB-855F08BA4B0E}"/>
              </a:ext>
            </a:extLst>
          </p:cNvPr>
          <p:cNvSpPr>
            <a:spLocks noGrp="1"/>
          </p:cNvSpPr>
          <p:nvPr>
            <p:ph type="title"/>
          </p:nvPr>
        </p:nvSpPr>
        <p:spPr/>
        <p:txBody>
          <a:bodyPr/>
          <a:lstStyle/>
          <a:p>
            <a:r>
              <a:rPr lang="en-DE" dirty="0"/>
              <a:t>Universal dependencies: relations </a:t>
            </a:r>
            <a:br>
              <a:rPr lang="en-DE" dirty="0"/>
            </a:br>
            <a:r>
              <a:rPr lang="en-DE" dirty="0"/>
              <a:t>Some examples</a:t>
            </a:r>
          </a:p>
        </p:txBody>
      </p:sp>
      <p:sp>
        <p:nvSpPr>
          <p:cNvPr id="3" name="Content Placeholder 2">
            <a:extLst>
              <a:ext uri="{FF2B5EF4-FFF2-40B4-BE49-F238E27FC236}">
                <a16:creationId xmlns:a16="http://schemas.microsoft.com/office/drawing/2014/main" id="{CDD08CB4-E906-0E0D-8C2B-89E8D301E02C}"/>
              </a:ext>
            </a:extLst>
          </p:cNvPr>
          <p:cNvSpPr>
            <a:spLocks noGrp="1"/>
          </p:cNvSpPr>
          <p:nvPr>
            <p:ph sz="quarter" idx="13"/>
          </p:nvPr>
        </p:nvSpPr>
        <p:spPr>
          <a:xfrm>
            <a:off x="913774" y="2367093"/>
            <a:ext cx="10363826" cy="449965"/>
          </a:xfrm>
        </p:spPr>
        <p:txBody>
          <a:bodyPr/>
          <a:lstStyle/>
          <a:p>
            <a:pPr marL="0" indent="0">
              <a:buNone/>
            </a:pPr>
            <a:r>
              <a:rPr lang="en-DE" cap="none" dirty="0"/>
              <a:t>Syntactic roles: subject (nsubj), object (obj), indirect object (iobj), oblique (obl)</a:t>
            </a:r>
          </a:p>
        </p:txBody>
      </p:sp>
      <p:sp>
        <p:nvSpPr>
          <p:cNvPr id="4" name="TextBox 3">
            <a:extLst>
              <a:ext uri="{FF2B5EF4-FFF2-40B4-BE49-F238E27FC236}">
                <a16:creationId xmlns:a16="http://schemas.microsoft.com/office/drawing/2014/main" id="{8F22906D-99BC-72E8-2A0E-B41F9CC9AC43}"/>
              </a:ext>
            </a:extLst>
          </p:cNvPr>
          <p:cNvSpPr txBox="1"/>
          <p:nvPr/>
        </p:nvSpPr>
        <p:spPr>
          <a:xfrm>
            <a:off x="502837" y="2935147"/>
            <a:ext cx="8621066" cy="3231654"/>
          </a:xfrm>
          <a:prstGeom prst="rect">
            <a:avLst/>
          </a:prstGeom>
          <a:noFill/>
        </p:spPr>
        <p:txBody>
          <a:bodyPr wrap="square" rtlCol="0">
            <a:spAutoFit/>
          </a:bodyPr>
          <a:lstStyle/>
          <a:p>
            <a:r>
              <a:rPr lang="en-GB" sz="1200" b="0" i="0" dirty="0">
                <a:solidFill>
                  <a:srgbClr val="333333"/>
                </a:solidFill>
                <a:effectLst/>
                <a:latin typeface="Helvetica Neue" panose="02000503000000020004" pitchFamily="2" charset="0"/>
              </a:rPr>
              <a:t># </a:t>
            </a:r>
            <a:r>
              <a:rPr lang="en-GB" sz="1200" b="0" i="0" dirty="0" err="1">
                <a:solidFill>
                  <a:srgbClr val="333333"/>
                </a:solidFill>
                <a:effectLst/>
                <a:latin typeface="Helvetica Neue" panose="02000503000000020004" pitchFamily="2" charset="0"/>
              </a:rPr>
              <a:t>sent_id</a:t>
            </a:r>
            <a:r>
              <a:rPr lang="en-GB" sz="1200" b="0" i="0" dirty="0">
                <a:solidFill>
                  <a:srgbClr val="333333"/>
                </a:solidFill>
                <a:effectLst/>
                <a:latin typeface="Helvetica Neue" panose="02000503000000020004" pitchFamily="2" charset="0"/>
              </a:rPr>
              <a:t> = 1# text = At the fancy restaurant Harry gives a ring to Sally.</a:t>
            </a:r>
          </a:p>
          <a:p>
            <a:r>
              <a:rPr lang="en-GB" sz="1200" b="0" i="0" dirty="0">
                <a:solidFill>
                  <a:srgbClr val="333333"/>
                </a:solidFill>
                <a:effectLst/>
                <a:latin typeface="Helvetica Neue" panose="02000503000000020004" pitchFamily="2" charset="0"/>
              </a:rPr>
              <a:t>1	At	at	ADP	_	_	4	case	_	_</a:t>
            </a:r>
          </a:p>
          <a:p>
            <a:r>
              <a:rPr lang="en-GB" sz="1200" b="0" i="0" dirty="0">
                <a:solidFill>
                  <a:srgbClr val="333333"/>
                </a:solidFill>
                <a:effectLst/>
                <a:latin typeface="Helvetica Neue" panose="02000503000000020004" pitchFamily="2" charset="0"/>
              </a:rPr>
              <a:t>2	the	the	DET	DEF	Definite=</a:t>
            </a:r>
            <a:r>
              <a:rPr lang="en-GB" sz="1200" b="0" i="0" dirty="0" err="1">
                <a:solidFill>
                  <a:srgbClr val="333333"/>
                </a:solidFill>
                <a:effectLst/>
                <a:latin typeface="Helvetica Neue" panose="02000503000000020004" pitchFamily="2" charset="0"/>
              </a:rPr>
              <a:t>Def|PronType</a:t>
            </a:r>
            <a:r>
              <a:rPr lang="en-GB" sz="1200" b="0" i="0" dirty="0">
                <a:solidFill>
                  <a:srgbClr val="333333"/>
                </a:solidFill>
                <a:effectLst/>
                <a:latin typeface="Helvetica Neue" panose="02000503000000020004" pitchFamily="2" charset="0"/>
              </a:rPr>
              <a:t>=Art	4	det	_	_</a:t>
            </a:r>
          </a:p>
          <a:p>
            <a:r>
              <a:rPr lang="en-GB" sz="1200" b="0" i="0" dirty="0">
                <a:solidFill>
                  <a:srgbClr val="333333"/>
                </a:solidFill>
                <a:effectLst/>
                <a:latin typeface="Helvetica Neue" panose="02000503000000020004" pitchFamily="2" charset="0"/>
              </a:rPr>
              <a:t>3	fancy	fancy	ADJ	POS	Degree=Pos	4	</a:t>
            </a:r>
            <a:r>
              <a:rPr lang="en-GB" sz="1200" b="0" i="0" dirty="0" err="1">
                <a:solidFill>
                  <a:srgbClr val="333333"/>
                </a:solidFill>
                <a:effectLst/>
                <a:latin typeface="Helvetica Neue" panose="02000503000000020004" pitchFamily="2" charset="0"/>
              </a:rPr>
              <a:t>amod</a:t>
            </a:r>
            <a:r>
              <a:rPr lang="en-GB" sz="1200" b="0" i="0" dirty="0">
                <a:solidFill>
                  <a:srgbClr val="333333"/>
                </a:solidFill>
                <a:effectLst/>
                <a:latin typeface="Helvetica Neue" panose="02000503000000020004" pitchFamily="2" charset="0"/>
              </a:rPr>
              <a:t>	_	_</a:t>
            </a:r>
          </a:p>
          <a:p>
            <a:r>
              <a:rPr lang="en-GB" sz="1200" b="0" i="0" dirty="0">
                <a:solidFill>
                  <a:srgbClr val="333333"/>
                </a:solidFill>
                <a:effectLst/>
                <a:latin typeface="Helvetica Neue" panose="02000503000000020004" pitchFamily="2" charset="0"/>
              </a:rPr>
              <a:t>4	restaurant	restaurant	NOUN	SG-NOM	Number=Sing	6	</a:t>
            </a:r>
            <a:r>
              <a:rPr lang="en-GB" sz="1200" b="0" i="0" dirty="0" err="1">
                <a:solidFill>
                  <a:srgbClr val="333333"/>
                </a:solidFill>
                <a:effectLst/>
                <a:latin typeface="Helvetica Neue" panose="02000503000000020004" pitchFamily="2" charset="0"/>
              </a:rPr>
              <a:t>obl</a:t>
            </a:r>
            <a:r>
              <a:rPr lang="en-GB" sz="1200" b="0" i="0" dirty="0">
                <a:solidFill>
                  <a:srgbClr val="333333"/>
                </a:solidFill>
                <a:effectLst/>
                <a:latin typeface="Helvetica Neue" panose="02000503000000020004" pitchFamily="2" charset="0"/>
              </a:rPr>
              <a:t>	_	_</a:t>
            </a:r>
          </a:p>
          <a:p>
            <a:r>
              <a:rPr lang="en-GB" sz="1200" b="0" i="0" dirty="0">
                <a:solidFill>
                  <a:srgbClr val="333333"/>
                </a:solidFill>
                <a:effectLst/>
                <a:latin typeface="Helvetica Neue" panose="02000503000000020004" pitchFamily="2" charset="0"/>
              </a:rPr>
              <a:t>5	Harry	Harry	PROPN	SG-NOM	Number=Sing	6	</a:t>
            </a:r>
            <a:r>
              <a:rPr lang="en-GB" sz="1200" b="0" i="0" dirty="0" err="1">
                <a:solidFill>
                  <a:srgbClr val="333333"/>
                </a:solidFill>
                <a:effectLst/>
                <a:latin typeface="Helvetica Neue" panose="02000503000000020004" pitchFamily="2" charset="0"/>
              </a:rPr>
              <a:t>nsubj</a:t>
            </a:r>
            <a:r>
              <a:rPr lang="en-GB" sz="1200" b="0" i="0" dirty="0">
                <a:solidFill>
                  <a:srgbClr val="333333"/>
                </a:solidFill>
                <a:effectLst/>
                <a:latin typeface="Helvetica Neue" panose="02000503000000020004" pitchFamily="2" charset="0"/>
              </a:rPr>
              <a:t>	_	_</a:t>
            </a:r>
          </a:p>
          <a:p>
            <a:r>
              <a:rPr lang="en-GB" sz="1200" b="0" i="0" dirty="0">
                <a:solidFill>
                  <a:srgbClr val="333333"/>
                </a:solidFill>
                <a:effectLst/>
                <a:latin typeface="Helvetica Neue" panose="02000503000000020004" pitchFamily="2" charset="0"/>
              </a:rPr>
              <a:t>6	gives	give	VERB	PRES	Mood=</a:t>
            </a:r>
            <a:r>
              <a:rPr lang="en-GB" sz="1200" b="0" i="0" dirty="0" err="1">
                <a:solidFill>
                  <a:srgbClr val="333333"/>
                </a:solidFill>
                <a:effectLst/>
                <a:latin typeface="Helvetica Neue" panose="02000503000000020004" pitchFamily="2" charset="0"/>
              </a:rPr>
              <a:t>Ind|Number</a:t>
            </a:r>
            <a:r>
              <a:rPr lang="en-GB" sz="1200" b="0" i="0" dirty="0">
                <a:solidFill>
                  <a:srgbClr val="333333"/>
                </a:solidFill>
                <a:effectLst/>
                <a:latin typeface="Helvetica Neue" panose="02000503000000020004" pitchFamily="2" charset="0"/>
              </a:rPr>
              <a:t>=</a:t>
            </a:r>
            <a:r>
              <a:rPr lang="en-GB" sz="1200" b="0" i="0" dirty="0" err="1">
                <a:solidFill>
                  <a:srgbClr val="333333"/>
                </a:solidFill>
                <a:effectLst/>
                <a:latin typeface="Helvetica Neue" panose="02000503000000020004" pitchFamily="2" charset="0"/>
              </a:rPr>
              <a:t>Sing|Person</a:t>
            </a:r>
            <a:r>
              <a:rPr lang="en-GB" sz="1200" b="0" i="0" dirty="0">
                <a:solidFill>
                  <a:srgbClr val="333333"/>
                </a:solidFill>
                <a:effectLst/>
                <a:latin typeface="Helvetica Neue" panose="02000503000000020004" pitchFamily="2" charset="0"/>
              </a:rPr>
              <a:t>=3|Tense=</a:t>
            </a:r>
            <a:r>
              <a:rPr lang="en-GB" sz="1200" b="0" i="0" dirty="0" err="1">
                <a:solidFill>
                  <a:srgbClr val="333333"/>
                </a:solidFill>
                <a:effectLst/>
                <a:latin typeface="Helvetica Neue" panose="02000503000000020004" pitchFamily="2" charset="0"/>
              </a:rPr>
              <a:t>Pres|VerbForm</a:t>
            </a:r>
            <a:r>
              <a:rPr lang="en-GB" sz="1200" b="0" i="0" dirty="0">
                <a:solidFill>
                  <a:srgbClr val="333333"/>
                </a:solidFill>
                <a:effectLst/>
                <a:latin typeface="Helvetica Neue" panose="02000503000000020004" pitchFamily="2" charset="0"/>
              </a:rPr>
              <a:t>=Fin	0	root	_	_</a:t>
            </a:r>
          </a:p>
          <a:p>
            <a:r>
              <a:rPr lang="en-GB" sz="1200" b="0" i="0" dirty="0">
                <a:solidFill>
                  <a:srgbClr val="333333"/>
                </a:solidFill>
                <a:effectLst/>
                <a:latin typeface="Helvetica Neue" panose="02000503000000020004" pitchFamily="2" charset="0"/>
              </a:rPr>
              <a:t>7	a	a	DET	IND-SG	Definite=</a:t>
            </a:r>
            <a:r>
              <a:rPr lang="en-GB" sz="1200" b="0" i="0" dirty="0" err="1">
                <a:solidFill>
                  <a:srgbClr val="333333"/>
                </a:solidFill>
                <a:effectLst/>
                <a:latin typeface="Helvetica Neue" panose="02000503000000020004" pitchFamily="2" charset="0"/>
              </a:rPr>
              <a:t>Ind|PronType</a:t>
            </a:r>
            <a:r>
              <a:rPr lang="en-GB" sz="1200" b="0" i="0" dirty="0">
                <a:solidFill>
                  <a:srgbClr val="333333"/>
                </a:solidFill>
                <a:effectLst/>
                <a:latin typeface="Helvetica Neue" panose="02000503000000020004" pitchFamily="2" charset="0"/>
              </a:rPr>
              <a:t>=Art	8	det	_	_</a:t>
            </a:r>
          </a:p>
          <a:p>
            <a:r>
              <a:rPr lang="en-GB" sz="1200" b="0" i="0" dirty="0">
                <a:solidFill>
                  <a:srgbClr val="333333"/>
                </a:solidFill>
                <a:effectLst/>
                <a:latin typeface="Helvetica Neue" panose="02000503000000020004" pitchFamily="2" charset="0"/>
              </a:rPr>
              <a:t>8	ring	ring	NOUN	SG-NOM	Number=Sing	6	</a:t>
            </a:r>
            <a:r>
              <a:rPr lang="en-GB" sz="1200" b="0" i="0" dirty="0" err="1">
                <a:solidFill>
                  <a:srgbClr val="333333"/>
                </a:solidFill>
                <a:effectLst/>
                <a:latin typeface="Helvetica Neue" panose="02000503000000020004" pitchFamily="2" charset="0"/>
              </a:rPr>
              <a:t>obj</a:t>
            </a:r>
            <a:r>
              <a:rPr lang="en-GB" sz="1200" b="0" i="0" dirty="0">
                <a:solidFill>
                  <a:srgbClr val="333333"/>
                </a:solidFill>
                <a:effectLst/>
                <a:latin typeface="Helvetica Neue" panose="02000503000000020004" pitchFamily="2" charset="0"/>
              </a:rPr>
              <a:t>	_	_</a:t>
            </a:r>
          </a:p>
          <a:p>
            <a:r>
              <a:rPr lang="en-GB" sz="1200" b="0" i="0" dirty="0">
                <a:solidFill>
                  <a:srgbClr val="333333"/>
                </a:solidFill>
                <a:effectLst/>
                <a:latin typeface="Helvetica Neue" panose="02000503000000020004" pitchFamily="2" charset="0"/>
              </a:rPr>
              <a:t>9	to	to	ADP	_	_	10	case	_	_</a:t>
            </a:r>
          </a:p>
          <a:p>
            <a:r>
              <a:rPr lang="en-GB" sz="1200" b="0" i="0" dirty="0">
                <a:solidFill>
                  <a:srgbClr val="333333"/>
                </a:solidFill>
                <a:effectLst/>
                <a:latin typeface="Helvetica Neue" panose="02000503000000020004" pitchFamily="2" charset="0"/>
              </a:rPr>
              <a:t>10	Sally	Sally	PROPN	SG-NOM	Number=Sing	6	</a:t>
            </a:r>
            <a:r>
              <a:rPr lang="en-GB" sz="1200" b="0" i="0" dirty="0" err="1">
                <a:solidFill>
                  <a:srgbClr val="333333"/>
                </a:solidFill>
                <a:effectLst/>
                <a:latin typeface="Helvetica Neue" panose="02000503000000020004" pitchFamily="2" charset="0"/>
              </a:rPr>
              <a:t>iobj</a:t>
            </a:r>
            <a:r>
              <a:rPr lang="en-GB" sz="1200" b="0" i="0" dirty="0">
                <a:solidFill>
                  <a:srgbClr val="333333"/>
                </a:solidFill>
                <a:effectLst/>
                <a:latin typeface="Helvetica Neue" panose="02000503000000020004" pitchFamily="2" charset="0"/>
              </a:rPr>
              <a:t>	_	</a:t>
            </a:r>
            <a:r>
              <a:rPr lang="en-GB" sz="1200" b="0" i="0" dirty="0" err="1">
                <a:solidFill>
                  <a:srgbClr val="333333"/>
                </a:solidFill>
                <a:effectLst/>
                <a:latin typeface="Helvetica Neue" panose="02000503000000020004" pitchFamily="2" charset="0"/>
              </a:rPr>
              <a:t>SpaceAfter</a:t>
            </a:r>
            <a:r>
              <a:rPr lang="en-GB" sz="1200" b="0" i="0" dirty="0">
                <a:solidFill>
                  <a:srgbClr val="333333"/>
                </a:solidFill>
                <a:effectLst/>
                <a:latin typeface="Helvetica Neue" panose="02000503000000020004" pitchFamily="2" charset="0"/>
              </a:rPr>
              <a:t>=No</a:t>
            </a:r>
          </a:p>
          <a:p>
            <a:r>
              <a:rPr lang="en-GB" sz="1200" b="0" i="0" dirty="0">
                <a:solidFill>
                  <a:srgbClr val="333333"/>
                </a:solidFill>
                <a:effectLst/>
                <a:latin typeface="Helvetica Neue" panose="02000503000000020004" pitchFamily="2" charset="0"/>
              </a:rPr>
              <a:t>11	.	.	PUNCT	Period	_	6	</a:t>
            </a:r>
            <a:r>
              <a:rPr lang="en-GB" sz="1200" b="0" i="0" dirty="0" err="1">
                <a:solidFill>
                  <a:srgbClr val="333333"/>
                </a:solidFill>
                <a:effectLst/>
                <a:latin typeface="Helvetica Neue" panose="02000503000000020004" pitchFamily="2" charset="0"/>
              </a:rPr>
              <a:t>punct</a:t>
            </a:r>
            <a:r>
              <a:rPr lang="en-GB" sz="1200" b="0" i="0" dirty="0">
                <a:solidFill>
                  <a:srgbClr val="333333"/>
                </a:solidFill>
                <a:effectLst/>
                <a:latin typeface="Helvetica Neue" panose="02000503000000020004" pitchFamily="2" charset="0"/>
              </a:rPr>
              <a:t>	_	</a:t>
            </a:r>
            <a:r>
              <a:rPr lang="en-GB" sz="1200" b="0" i="0" dirty="0" err="1">
                <a:solidFill>
                  <a:srgbClr val="333333"/>
                </a:solidFill>
                <a:effectLst/>
                <a:latin typeface="Helvetica Neue" panose="02000503000000020004" pitchFamily="2" charset="0"/>
              </a:rPr>
              <a:t>SpaceAfter</a:t>
            </a:r>
            <a:r>
              <a:rPr lang="en-GB" sz="1200" b="0" i="0" dirty="0">
                <a:solidFill>
                  <a:srgbClr val="333333"/>
                </a:solidFill>
                <a:effectLst/>
                <a:latin typeface="Helvetica Neue" panose="02000503000000020004" pitchFamily="2" charset="0"/>
              </a:rPr>
              <a:t>=No</a:t>
            </a:r>
          </a:p>
          <a:p>
            <a:r>
              <a:rPr lang="en-GB" sz="1200" b="0" i="0" dirty="0">
                <a:solidFill>
                  <a:srgbClr val="333333"/>
                </a:solidFill>
                <a:effectLst/>
                <a:latin typeface="Helvetica Neue" panose="02000503000000020004" pitchFamily="2" charset="0"/>
              </a:rPr>
              <a:t># text = Harry's bar.</a:t>
            </a:r>
          </a:p>
          <a:p>
            <a:r>
              <a:rPr lang="en-GB" sz="1200" b="0" i="0" dirty="0">
                <a:solidFill>
                  <a:srgbClr val="333333"/>
                </a:solidFill>
                <a:effectLst/>
                <a:latin typeface="Helvetica Neue" panose="02000503000000020004" pitchFamily="2" charset="0"/>
              </a:rPr>
              <a:t>1	Harry	Harry	PROPN	SP	_	0	root	_	</a:t>
            </a:r>
            <a:r>
              <a:rPr lang="en-GB" sz="1200" b="0" i="0" dirty="0" err="1">
                <a:solidFill>
                  <a:srgbClr val="333333"/>
                </a:solidFill>
                <a:effectLst/>
                <a:latin typeface="Helvetica Neue" panose="02000503000000020004" pitchFamily="2" charset="0"/>
              </a:rPr>
              <a:t>SpaceAfter</a:t>
            </a:r>
            <a:r>
              <a:rPr lang="en-GB" sz="1200" b="0" i="0" dirty="0">
                <a:solidFill>
                  <a:srgbClr val="333333"/>
                </a:solidFill>
                <a:effectLst/>
                <a:latin typeface="Helvetica Neue" panose="02000503000000020004" pitchFamily="2" charset="0"/>
              </a:rPr>
              <a:t>=No</a:t>
            </a:r>
          </a:p>
          <a:p>
            <a:r>
              <a:rPr lang="en-GB" sz="1200" b="0" i="0" dirty="0">
                <a:solidFill>
                  <a:srgbClr val="333333"/>
                </a:solidFill>
                <a:effectLst/>
                <a:latin typeface="Helvetica Neue" panose="02000503000000020004" pitchFamily="2" charset="0"/>
              </a:rPr>
              <a:t>2	's	's	PART	PART	_	1	case	_	_</a:t>
            </a:r>
          </a:p>
          <a:p>
            <a:r>
              <a:rPr lang="en-GB" sz="1200" b="0" i="0" dirty="0">
                <a:solidFill>
                  <a:srgbClr val="333333"/>
                </a:solidFill>
                <a:effectLst/>
                <a:latin typeface="Helvetica Neue" panose="02000503000000020004" pitchFamily="2" charset="0"/>
              </a:rPr>
              <a:t>3	bar	bar	NOUN	S	Gender=</a:t>
            </a:r>
            <a:r>
              <a:rPr lang="en-GB" sz="1200" b="0" i="0" dirty="0" err="1">
                <a:solidFill>
                  <a:srgbClr val="333333"/>
                </a:solidFill>
                <a:effectLst/>
                <a:latin typeface="Helvetica Neue" panose="02000503000000020004" pitchFamily="2" charset="0"/>
              </a:rPr>
              <a:t>Masc</a:t>
            </a:r>
            <a:r>
              <a:rPr lang="en-GB" sz="1200" b="0" i="0" dirty="0">
                <a:solidFill>
                  <a:srgbClr val="333333"/>
                </a:solidFill>
                <a:effectLst/>
                <a:latin typeface="Helvetica Neue" panose="02000503000000020004" pitchFamily="2" charset="0"/>
              </a:rPr>
              <a:t>	1	</a:t>
            </a:r>
            <a:r>
              <a:rPr lang="en-GB" sz="1200" b="0" i="0" dirty="0" err="1">
                <a:solidFill>
                  <a:srgbClr val="333333"/>
                </a:solidFill>
                <a:effectLst/>
                <a:latin typeface="Helvetica Neue" panose="02000503000000020004" pitchFamily="2" charset="0"/>
              </a:rPr>
              <a:t>nmod</a:t>
            </a:r>
            <a:r>
              <a:rPr lang="en-GB" sz="1200" b="0" i="0" dirty="0">
                <a:solidFill>
                  <a:srgbClr val="333333"/>
                </a:solidFill>
                <a:effectLst/>
                <a:latin typeface="Helvetica Neue" panose="02000503000000020004" pitchFamily="2" charset="0"/>
              </a:rPr>
              <a:t>	_	</a:t>
            </a:r>
            <a:r>
              <a:rPr lang="en-GB" sz="1200" b="0" i="0" dirty="0" err="1">
                <a:solidFill>
                  <a:srgbClr val="333333"/>
                </a:solidFill>
                <a:effectLst/>
                <a:latin typeface="Helvetica Neue" panose="02000503000000020004" pitchFamily="2" charset="0"/>
              </a:rPr>
              <a:t>SpaceAfter</a:t>
            </a:r>
            <a:r>
              <a:rPr lang="en-GB" sz="1200" b="0" i="0" dirty="0">
                <a:solidFill>
                  <a:srgbClr val="333333"/>
                </a:solidFill>
                <a:effectLst/>
                <a:latin typeface="Helvetica Neue" panose="02000503000000020004" pitchFamily="2" charset="0"/>
              </a:rPr>
              <a:t>=No</a:t>
            </a:r>
          </a:p>
          <a:p>
            <a:r>
              <a:rPr lang="en-GB" sz="1200" b="0" i="0" dirty="0">
                <a:solidFill>
                  <a:srgbClr val="333333"/>
                </a:solidFill>
                <a:effectLst/>
                <a:latin typeface="Helvetica Neue" panose="02000503000000020004" pitchFamily="2" charset="0"/>
              </a:rPr>
              <a:t>4	.	.	PUNCT	FS	_	1	</a:t>
            </a:r>
            <a:r>
              <a:rPr lang="en-GB" sz="1200" b="0" i="0" dirty="0" err="1">
                <a:solidFill>
                  <a:srgbClr val="333333"/>
                </a:solidFill>
                <a:effectLst/>
                <a:latin typeface="Helvetica Neue" panose="02000503000000020004" pitchFamily="2" charset="0"/>
              </a:rPr>
              <a:t>punct</a:t>
            </a:r>
            <a:r>
              <a:rPr lang="en-GB" sz="1200" b="0" i="0" dirty="0">
                <a:solidFill>
                  <a:srgbClr val="333333"/>
                </a:solidFill>
                <a:effectLst/>
                <a:latin typeface="Helvetica Neue" panose="02000503000000020004" pitchFamily="2" charset="0"/>
              </a:rPr>
              <a:t>	_	</a:t>
            </a:r>
            <a:r>
              <a:rPr lang="en-GB" sz="1200" b="0" i="0" dirty="0" err="1">
                <a:solidFill>
                  <a:srgbClr val="333333"/>
                </a:solidFill>
                <a:effectLst/>
                <a:latin typeface="Helvetica Neue" panose="02000503000000020004" pitchFamily="2" charset="0"/>
              </a:rPr>
              <a:t>SpaceAfter</a:t>
            </a:r>
            <a:r>
              <a:rPr lang="en-GB" sz="1200" b="0" i="0" dirty="0">
                <a:solidFill>
                  <a:srgbClr val="333333"/>
                </a:solidFill>
                <a:effectLst/>
                <a:latin typeface="Helvetica Neue" panose="02000503000000020004" pitchFamily="2" charset="0"/>
              </a:rPr>
              <a:t>=No</a:t>
            </a:r>
            <a:endParaRPr lang="en-DE" sz="1200" dirty="0"/>
          </a:p>
        </p:txBody>
      </p:sp>
      <p:pic>
        <p:nvPicPr>
          <p:cNvPr id="7" name="Picture 6">
            <a:extLst>
              <a:ext uri="{FF2B5EF4-FFF2-40B4-BE49-F238E27FC236}">
                <a16:creationId xmlns:a16="http://schemas.microsoft.com/office/drawing/2014/main" id="{194B80B6-7E13-96B2-9E7A-7DA45DEDDB10}"/>
              </a:ext>
            </a:extLst>
          </p:cNvPr>
          <p:cNvPicPr>
            <a:picLocks noChangeAspect="1"/>
          </p:cNvPicPr>
          <p:nvPr/>
        </p:nvPicPr>
        <p:blipFill>
          <a:blip r:embed="rId3"/>
          <a:srcRect/>
          <a:stretch/>
        </p:blipFill>
        <p:spPr>
          <a:xfrm>
            <a:off x="8541098" y="3429000"/>
            <a:ext cx="3396343" cy="2207161"/>
          </a:xfrm>
          <a:prstGeom prst="rect">
            <a:avLst/>
          </a:prstGeom>
        </p:spPr>
      </p:pic>
    </p:spTree>
    <p:extLst>
      <p:ext uri="{BB962C8B-B14F-4D97-AF65-F5344CB8AC3E}">
        <p14:creationId xmlns:p14="http://schemas.microsoft.com/office/powerpoint/2010/main" val="305095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1EC48-B94F-DD89-C80E-6F7B27EA1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A22E3-CFAF-FAD2-6736-6DD9A6FF6E27}"/>
              </a:ext>
            </a:extLst>
          </p:cNvPr>
          <p:cNvSpPr>
            <a:spLocks noGrp="1"/>
          </p:cNvSpPr>
          <p:nvPr>
            <p:ph type="title"/>
          </p:nvPr>
        </p:nvSpPr>
        <p:spPr/>
        <p:txBody>
          <a:bodyPr/>
          <a:lstStyle/>
          <a:p>
            <a:r>
              <a:rPr lang="en-DE" dirty="0"/>
              <a:t>Universal dependencies: relations </a:t>
            </a:r>
            <a:br>
              <a:rPr lang="en-DE" dirty="0"/>
            </a:br>
            <a:r>
              <a:rPr lang="en-DE" dirty="0"/>
              <a:t>Some examples</a:t>
            </a:r>
          </a:p>
        </p:txBody>
      </p:sp>
      <p:sp>
        <p:nvSpPr>
          <p:cNvPr id="3" name="Content Placeholder 2">
            <a:extLst>
              <a:ext uri="{FF2B5EF4-FFF2-40B4-BE49-F238E27FC236}">
                <a16:creationId xmlns:a16="http://schemas.microsoft.com/office/drawing/2014/main" id="{36B76BC9-4C35-29D4-F2AD-CFA4D4CAF868}"/>
              </a:ext>
            </a:extLst>
          </p:cNvPr>
          <p:cNvSpPr>
            <a:spLocks noGrp="1"/>
          </p:cNvSpPr>
          <p:nvPr>
            <p:ph sz="quarter" idx="13"/>
          </p:nvPr>
        </p:nvSpPr>
        <p:spPr>
          <a:xfrm>
            <a:off x="913774" y="2367093"/>
            <a:ext cx="10363826" cy="449965"/>
          </a:xfrm>
        </p:spPr>
        <p:txBody>
          <a:bodyPr/>
          <a:lstStyle/>
          <a:p>
            <a:pPr marL="0" indent="0">
              <a:buNone/>
            </a:pPr>
            <a:r>
              <a:rPr lang="en-DE" cap="none" dirty="0"/>
              <a:t>Subordinate clauses: adverbial clauses (advcl), object clauses (ccomp)</a:t>
            </a:r>
          </a:p>
        </p:txBody>
      </p:sp>
      <p:sp>
        <p:nvSpPr>
          <p:cNvPr id="4" name="TextBox 3">
            <a:extLst>
              <a:ext uri="{FF2B5EF4-FFF2-40B4-BE49-F238E27FC236}">
                <a16:creationId xmlns:a16="http://schemas.microsoft.com/office/drawing/2014/main" id="{2C759C0E-CAEF-C238-481E-D8DDF2D97B6F}"/>
              </a:ext>
            </a:extLst>
          </p:cNvPr>
          <p:cNvSpPr txBox="1"/>
          <p:nvPr/>
        </p:nvSpPr>
        <p:spPr>
          <a:xfrm>
            <a:off x="502837" y="2935147"/>
            <a:ext cx="8621066" cy="3416320"/>
          </a:xfrm>
          <a:prstGeom prst="rect">
            <a:avLst/>
          </a:prstGeom>
          <a:noFill/>
        </p:spPr>
        <p:txBody>
          <a:bodyPr wrap="square" rtlCol="0">
            <a:spAutoFit/>
          </a:bodyPr>
          <a:lstStyle/>
          <a:p>
            <a:r>
              <a:rPr lang="en-GB" sz="1200" dirty="0"/>
              <a:t># text = When Harry proposed to Sally, she said "omg, yes, yes".</a:t>
            </a:r>
          </a:p>
          <a:p>
            <a:r>
              <a:rPr lang="en-GB" sz="1200" dirty="0"/>
              <a:t>1	When	when	SCONJ	_	_	3	mark	_	_</a:t>
            </a:r>
          </a:p>
          <a:p>
            <a:r>
              <a:rPr lang="en-GB" sz="1200" dirty="0"/>
              <a:t>2	Harry	Harry	PROPN 	SG-NOM	Number=Sing	3	</a:t>
            </a:r>
            <a:r>
              <a:rPr lang="en-GB" sz="1200" dirty="0" err="1"/>
              <a:t>nsubj</a:t>
            </a:r>
            <a:r>
              <a:rPr lang="en-GB" sz="1200" dirty="0"/>
              <a:t>	_	_</a:t>
            </a:r>
          </a:p>
          <a:p>
            <a:r>
              <a:rPr lang="en-GB" sz="1200" dirty="0"/>
              <a:t>3	proposed	propose	VERB	PAST	Mood=</a:t>
            </a:r>
            <a:r>
              <a:rPr lang="en-GB" sz="1200" dirty="0" err="1"/>
              <a:t>Ind|Tense</a:t>
            </a:r>
            <a:r>
              <a:rPr lang="en-GB" sz="1200" dirty="0"/>
              <a:t>=</a:t>
            </a:r>
            <a:r>
              <a:rPr lang="en-GB" sz="1200" dirty="0" err="1"/>
              <a:t>Past|VerbForm</a:t>
            </a:r>
            <a:r>
              <a:rPr lang="en-GB" sz="1200" dirty="0"/>
              <a:t>=Fin	8	</a:t>
            </a:r>
            <a:r>
              <a:rPr lang="en-GB" sz="1200" dirty="0" err="1"/>
              <a:t>advcl</a:t>
            </a:r>
            <a:r>
              <a:rPr lang="en-GB" sz="1200" dirty="0"/>
              <a:t>	_	_</a:t>
            </a:r>
          </a:p>
          <a:p>
            <a:r>
              <a:rPr lang="en-GB" sz="1200" dirty="0"/>
              <a:t>4	to	to	ADP	_	_	5	case	_	_</a:t>
            </a:r>
          </a:p>
          <a:p>
            <a:r>
              <a:rPr lang="en-GB" sz="1200" dirty="0"/>
              <a:t>5	Sally	Sally	PROPN	 SG-NOM	Number=Sing	3	</a:t>
            </a:r>
            <a:r>
              <a:rPr lang="en-GB" sz="1200" dirty="0" err="1"/>
              <a:t>obl</a:t>
            </a:r>
            <a:r>
              <a:rPr lang="en-GB" sz="1200" dirty="0"/>
              <a:t>	_	</a:t>
            </a:r>
            <a:r>
              <a:rPr lang="en-GB" sz="1200" dirty="0" err="1"/>
              <a:t>SpaceAfter</a:t>
            </a:r>
            <a:r>
              <a:rPr lang="en-GB" sz="1200" dirty="0"/>
              <a:t>=No</a:t>
            </a:r>
          </a:p>
          <a:p>
            <a:r>
              <a:rPr lang="en-GB" sz="1200" dirty="0"/>
              <a:t>6	,	,	PUNCT	Comma	_	3	</a:t>
            </a:r>
            <a:r>
              <a:rPr lang="en-GB" sz="1200" dirty="0" err="1"/>
              <a:t>punct</a:t>
            </a:r>
            <a:r>
              <a:rPr lang="en-GB" sz="1200" dirty="0"/>
              <a:t>	_	_</a:t>
            </a:r>
          </a:p>
          <a:p>
            <a:r>
              <a:rPr lang="en-GB" sz="1200" dirty="0"/>
              <a:t>7	she	she	PRON	PERS-SG-NOM	Case=</a:t>
            </a:r>
            <a:r>
              <a:rPr lang="en-GB" sz="1200" dirty="0" err="1"/>
              <a:t>Nom|Gender</a:t>
            </a:r>
            <a:r>
              <a:rPr lang="en-GB" sz="1200" dirty="0"/>
              <a:t>=</a:t>
            </a:r>
            <a:r>
              <a:rPr lang="en-GB" sz="1200" dirty="0" err="1"/>
              <a:t>Fem|Number</a:t>
            </a:r>
            <a:r>
              <a:rPr lang="en-GB" sz="1200" dirty="0"/>
              <a:t>=</a:t>
            </a:r>
            <a:r>
              <a:rPr lang="en-GB" sz="1200" dirty="0" err="1"/>
              <a:t>Sing|Person</a:t>
            </a:r>
            <a:r>
              <a:rPr lang="en-GB" sz="1200" dirty="0"/>
              <a:t>=3|PronType=Prs	8	</a:t>
            </a:r>
            <a:r>
              <a:rPr lang="en-GB" sz="1200" dirty="0" err="1"/>
              <a:t>nsubj</a:t>
            </a:r>
            <a:r>
              <a:rPr lang="en-GB" sz="1200" dirty="0"/>
              <a:t>	_	_</a:t>
            </a:r>
          </a:p>
          <a:p>
            <a:r>
              <a:rPr lang="en-GB" sz="1200" dirty="0"/>
              <a:t>8	said	say	VERB	PAST	Mood=</a:t>
            </a:r>
            <a:r>
              <a:rPr lang="en-GB" sz="1200" dirty="0" err="1"/>
              <a:t>Ind|Tense</a:t>
            </a:r>
            <a:r>
              <a:rPr lang="en-GB" sz="1200" dirty="0"/>
              <a:t>=</a:t>
            </a:r>
            <a:r>
              <a:rPr lang="en-GB" sz="1200" dirty="0" err="1"/>
              <a:t>Past|VerbForm</a:t>
            </a:r>
            <a:r>
              <a:rPr lang="en-GB" sz="1200" dirty="0"/>
              <a:t>=Fin	0	root	_	_</a:t>
            </a:r>
          </a:p>
          <a:p>
            <a:r>
              <a:rPr lang="en-GB" sz="1200" dirty="0"/>
              <a:t>9	"	&amp;</a:t>
            </a:r>
            <a:r>
              <a:rPr lang="en-GB" sz="1200" dirty="0" err="1"/>
              <a:t>quot</a:t>
            </a:r>
            <a:r>
              <a:rPr lang="en-GB" sz="1200" dirty="0"/>
              <a:t>;	PUNCT	Quote	_	14	</a:t>
            </a:r>
            <a:r>
              <a:rPr lang="en-GB" sz="1200" dirty="0" err="1"/>
              <a:t>punct</a:t>
            </a:r>
            <a:r>
              <a:rPr lang="en-GB" sz="1200" dirty="0"/>
              <a:t>	_	</a:t>
            </a:r>
            <a:r>
              <a:rPr lang="en-GB" sz="1200" dirty="0" err="1"/>
              <a:t>SpaceAfter</a:t>
            </a:r>
            <a:r>
              <a:rPr lang="en-GB" sz="1200" dirty="0"/>
              <a:t>=No</a:t>
            </a:r>
          </a:p>
          <a:p>
            <a:r>
              <a:rPr lang="en-GB" sz="1200" dirty="0"/>
              <a:t>10	omg	omg	INTJ	_	_	14	discourse	_	</a:t>
            </a:r>
            <a:r>
              <a:rPr lang="en-GB" sz="1200" dirty="0" err="1"/>
              <a:t>SpaceAfter</a:t>
            </a:r>
            <a:r>
              <a:rPr lang="en-GB" sz="1200" dirty="0"/>
              <a:t>=No</a:t>
            </a:r>
          </a:p>
          <a:p>
            <a:r>
              <a:rPr lang="en-GB" sz="1200" dirty="0"/>
              <a:t>11	,	,	PUNCT	Comma	_	12	</a:t>
            </a:r>
            <a:r>
              <a:rPr lang="en-GB" sz="1200" dirty="0" err="1"/>
              <a:t>punct</a:t>
            </a:r>
            <a:r>
              <a:rPr lang="en-GB" sz="1200" dirty="0"/>
              <a:t>	_	_</a:t>
            </a:r>
          </a:p>
          <a:p>
            <a:r>
              <a:rPr lang="en-GB" sz="1200" dirty="0"/>
              <a:t>12	yes	yes	INTJ	_	Polarity=Pos	14	discourse	_	</a:t>
            </a:r>
            <a:r>
              <a:rPr lang="en-GB" sz="1200" dirty="0" err="1"/>
              <a:t>SpaceAfter</a:t>
            </a:r>
            <a:r>
              <a:rPr lang="en-GB" sz="1200" dirty="0"/>
              <a:t>=No</a:t>
            </a:r>
          </a:p>
          <a:p>
            <a:r>
              <a:rPr lang="en-GB" sz="1200" dirty="0"/>
              <a:t>13	,	,	PUNCT	Comma	_	12	</a:t>
            </a:r>
            <a:r>
              <a:rPr lang="en-GB" sz="1200" dirty="0" err="1"/>
              <a:t>punct</a:t>
            </a:r>
            <a:r>
              <a:rPr lang="en-GB" sz="1200" dirty="0"/>
              <a:t>	_	_</a:t>
            </a:r>
          </a:p>
          <a:p>
            <a:r>
              <a:rPr lang="en-GB" sz="1200" dirty="0"/>
              <a:t>14	yes	yes	INTJ	_	Polarity=Pos	8	</a:t>
            </a:r>
            <a:r>
              <a:rPr lang="en-GB" sz="1200" dirty="0" err="1"/>
              <a:t>ccomp</a:t>
            </a:r>
            <a:r>
              <a:rPr lang="en-GB" sz="1200" dirty="0"/>
              <a:t>	_	</a:t>
            </a:r>
            <a:r>
              <a:rPr lang="en-GB" sz="1200" dirty="0" err="1"/>
              <a:t>SpaceAfter</a:t>
            </a:r>
            <a:r>
              <a:rPr lang="en-GB" sz="1200" dirty="0"/>
              <a:t>=No</a:t>
            </a:r>
          </a:p>
          <a:p>
            <a:r>
              <a:rPr lang="en-GB" sz="1200" dirty="0"/>
              <a:t>15	"	&amp;</a:t>
            </a:r>
            <a:r>
              <a:rPr lang="en-GB" sz="1200" dirty="0" err="1"/>
              <a:t>quot</a:t>
            </a:r>
            <a:r>
              <a:rPr lang="en-GB" sz="1200" dirty="0"/>
              <a:t>;	PUNCT	Quote	_	14	</a:t>
            </a:r>
            <a:r>
              <a:rPr lang="en-GB" sz="1200" dirty="0" err="1"/>
              <a:t>punct</a:t>
            </a:r>
            <a:r>
              <a:rPr lang="en-GB" sz="1200" dirty="0"/>
              <a:t>	_	</a:t>
            </a:r>
            <a:r>
              <a:rPr lang="en-GB" sz="1200" dirty="0" err="1"/>
              <a:t>SpaceAfter</a:t>
            </a:r>
            <a:r>
              <a:rPr lang="en-GB" sz="1200" dirty="0"/>
              <a:t>=No</a:t>
            </a:r>
          </a:p>
          <a:p>
            <a:r>
              <a:rPr lang="en-GB" sz="1200" dirty="0"/>
              <a:t>16	.	.	PUNCT	Period	_	8	</a:t>
            </a:r>
            <a:r>
              <a:rPr lang="en-GB" sz="1200" dirty="0" err="1"/>
              <a:t>punct</a:t>
            </a:r>
            <a:r>
              <a:rPr lang="en-GB" sz="1200" dirty="0"/>
              <a:t>	_	</a:t>
            </a:r>
            <a:r>
              <a:rPr lang="en-GB" sz="1200" dirty="0" err="1"/>
              <a:t>SpaceAfter</a:t>
            </a:r>
            <a:r>
              <a:rPr lang="en-GB" sz="1200" dirty="0"/>
              <a:t>=No</a:t>
            </a:r>
            <a:endParaRPr lang="en-DE" sz="1200" dirty="0"/>
          </a:p>
        </p:txBody>
      </p:sp>
      <p:pic>
        <p:nvPicPr>
          <p:cNvPr id="6" name="Picture 5" descr="A diagram of a person's body&#10;&#10;AI-generated content may be incorrect.">
            <a:extLst>
              <a:ext uri="{FF2B5EF4-FFF2-40B4-BE49-F238E27FC236}">
                <a16:creationId xmlns:a16="http://schemas.microsoft.com/office/drawing/2014/main" id="{7F0805BE-7B61-EBDD-D2FF-F86DE8B39C53}"/>
              </a:ext>
            </a:extLst>
          </p:cNvPr>
          <p:cNvPicPr>
            <a:picLocks noChangeAspect="1"/>
          </p:cNvPicPr>
          <p:nvPr/>
        </p:nvPicPr>
        <p:blipFill>
          <a:blip r:embed="rId3"/>
          <a:stretch>
            <a:fillRect/>
          </a:stretch>
        </p:blipFill>
        <p:spPr>
          <a:xfrm>
            <a:off x="6723380" y="4945963"/>
            <a:ext cx="5270502" cy="1390650"/>
          </a:xfrm>
          <a:prstGeom prst="rect">
            <a:avLst/>
          </a:prstGeom>
        </p:spPr>
      </p:pic>
    </p:spTree>
    <p:extLst>
      <p:ext uri="{BB962C8B-B14F-4D97-AF65-F5344CB8AC3E}">
        <p14:creationId xmlns:p14="http://schemas.microsoft.com/office/powerpoint/2010/main" val="3488226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Title 1">
            <a:extLst>
              <a:ext uri="{FF2B5EF4-FFF2-40B4-BE49-F238E27FC236}">
                <a16:creationId xmlns:a16="http://schemas.microsoft.com/office/drawing/2014/main" id="{D33354FB-D103-27C0-5CED-20F8A8D594D0}"/>
              </a:ext>
            </a:extLst>
          </p:cNvPr>
          <p:cNvSpPr>
            <a:spLocks noGrp="1"/>
          </p:cNvSpPr>
          <p:nvPr>
            <p:ph type="title"/>
          </p:nvPr>
        </p:nvSpPr>
        <p:spPr>
          <a:xfrm>
            <a:off x="959896" y="960814"/>
            <a:ext cx="2732249" cy="4912936"/>
          </a:xfrm>
        </p:spPr>
        <p:txBody>
          <a:bodyPr anchor="b">
            <a:normAutofit/>
          </a:bodyPr>
          <a:lstStyle/>
          <a:p>
            <a:pPr algn="r"/>
            <a:r>
              <a:rPr lang="en-GB" sz="3100">
                <a:solidFill>
                  <a:schemeClr val="bg1"/>
                </a:solidFill>
              </a:rPr>
              <a:t>U</a:t>
            </a:r>
            <a:r>
              <a:rPr lang="en-DE" sz="3100">
                <a:solidFill>
                  <a:schemeClr val="bg1"/>
                </a:solidFill>
              </a:rPr>
              <a:t>niversal dependencies: conll-u files</a:t>
            </a:r>
          </a:p>
        </p:txBody>
      </p:sp>
      <p:sp>
        <p:nvSpPr>
          <p:cNvPr id="3" name="Content Placeholder 2">
            <a:extLst>
              <a:ext uri="{FF2B5EF4-FFF2-40B4-BE49-F238E27FC236}">
                <a16:creationId xmlns:a16="http://schemas.microsoft.com/office/drawing/2014/main" id="{3E596588-DBA8-A195-53BA-766EB34871AE}"/>
              </a:ext>
            </a:extLst>
          </p:cNvPr>
          <p:cNvSpPr>
            <a:spLocks noGrp="1"/>
          </p:cNvSpPr>
          <p:nvPr>
            <p:ph sz="quarter" idx="13"/>
          </p:nvPr>
        </p:nvSpPr>
        <p:spPr>
          <a:xfrm>
            <a:off x="4979078" y="960814"/>
            <a:ext cx="6247722" cy="4830385"/>
          </a:xfrm>
        </p:spPr>
        <p:txBody>
          <a:bodyPr anchor="ctr">
            <a:normAutofit/>
          </a:bodyPr>
          <a:lstStyle/>
          <a:p>
            <a:pPr marL="0" indent="0">
              <a:buNone/>
            </a:pPr>
            <a:r>
              <a:rPr lang="en-GB" sz="1800" cap="none"/>
              <a:t>From https://universaldependencies.org/format.html:</a:t>
            </a:r>
          </a:p>
          <a:p>
            <a:pPr marL="0" indent="0">
              <a:buNone/>
            </a:pPr>
            <a:r>
              <a:rPr lang="en-GB" sz="1800" cap="none"/>
              <a:t>”Annotations are encoded in plain text files (UTF-8, normalized to NFC, using only the LF character as line break, including an LF character at the end of file) with three types of lines:</a:t>
            </a:r>
          </a:p>
          <a:p>
            <a:pPr marL="0" indent="0">
              <a:buNone/>
            </a:pPr>
            <a:r>
              <a:rPr lang="en-GB" sz="1800" cap="none"/>
              <a:t>Word lines containing the annotation of a word/token/node in 10 fields separated by single tab characters; see below.</a:t>
            </a:r>
          </a:p>
          <a:p>
            <a:pPr marL="0" indent="0">
              <a:buNone/>
            </a:pPr>
            <a:r>
              <a:rPr lang="en-GB" sz="1800" cap="none"/>
              <a:t>Blank lines marking sentence boundaries. The last line of each sentence is a blank line.</a:t>
            </a:r>
          </a:p>
          <a:p>
            <a:pPr marL="0" indent="0">
              <a:buNone/>
            </a:pPr>
            <a:r>
              <a:rPr lang="en-GB" sz="1800" cap="none"/>
              <a:t>Sentence-level comments starting with hash (#). Comment lines occur at the beginning of sentences, before word lines.”</a:t>
            </a:r>
          </a:p>
          <a:p>
            <a:pPr marL="0" indent="0">
              <a:buNone/>
            </a:pPr>
            <a:endParaRPr lang="en-GB" sz="1800" cap="none"/>
          </a:p>
        </p:txBody>
      </p:sp>
    </p:spTree>
    <p:extLst>
      <p:ext uri="{BB962C8B-B14F-4D97-AF65-F5344CB8AC3E}">
        <p14:creationId xmlns:p14="http://schemas.microsoft.com/office/powerpoint/2010/main" val="5550778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4CA1-0C83-9E3C-E49B-826CFCCEA88C}"/>
              </a:ext>
            </a:extLst>
          </p:cNvPr>
          <p:cNvSpPr>
            <a:spLocks noGrp="1"/>
          </p:cNvSpPr>
          <p:nvPr>
            <p:ph type="title"/>
          </p:nvPr>
        </p:nvSpPr>
        <p:spPr/>
        <p:txBody>
          <a:bodyPr/>
          <a:lstStyle/>
          <a:p>
            <a:r>
              <a:rPr lang="en-GB" dirty="0"/>
              <a:t>U</a:t>
            </a:r>
            <a:r>
              <a:rPr lang="en-DE" dirty="0"/>
              <a:t>seful tools</a:t>
            </a:r>
          </a:p>
        </p:txBody>
      </p:sp>
      <p:sp>
        <p:nvSpPr>
          <p:cNvPr id="3" name="Content Placeholder 2">
            <a:extLst>
              <a:ext uri="{FF2B5EF4-FFF2-40B4-BE49-F238E27FC236}">
                <a16:creationId xmlns:a16="http://schemas.microsoft.com/office/drawing/2014/main" id="{3A98BC1C-0C76-8600-4985-52F6DB799AA7}"/>
              </a:ext>
            </a:extLst>
          </p:cNvPr>
          <p:cNvSpPr>
            <a:spLocks noGrp="1"/>
          </p:cNvSpPr>
          <p:nvPr>
            <p:ph sz="quarter" idx="13"/>
          </p:nvPr>
        </p:nvSpPr>
        <p:spPr>
          <a:xfrm>
            <a:off x="913773" y="1759789"/>
            <a:ext cx="10364451" cy="4479693"/>
          </a:xfrm>
        </p:spPr>
        <p:txBody>
          <a:bodyPr>
            <a:normAutofit fontScale="85000" lnSpcReduction="20000"/>
          </a:bodyPr>
          <a:lstStyle/>
          <a:p>
            <a:pPr marL="0" indent="0">
              <a:buNone/>
            </a:pPr>
            <a:r>
              <a:rPr lang="en-DE" cap="none" dirty="0">
                <a:latin typeface="+mj-lt"/>
              </a:rPr>
              <a:t>A selection of useful tools for working with UD. See more on </a:t>
            </a:r>
            <a:r>
              <a:rPr lang="en-GB" cap="none" dirty="0">
                <a:latin typeface="+mj-lt"/>
                <a:hlinkClick r:id="rId3"/>
              </a:rPr>
              <a:t>https://universaldependencies.org/query.html</a:t>
            </a:r>
            <a:r>
              <a:rPr lang="en-GB" cap="none" dirty="0">
                <a:latin typeface="+mj-lt"/>
              </a:rPr>
              <a:t> and </a:t>
            </a:r>
            <a:r>
              <a:rPr lang="en-GB" cap="none" dirty="0">
                <a:latin typeface="+mj-lt"/>
                <a:hlinkClick r:id="rId4"/>
              </a:rPr>
              <a:t>https://universaldependencies.org/tools.html</a:t>
            </a:r>
            <a:endParaRPr lang="en-GB" cap="none" dirty="0">
              <a:latin typeface="+mj-lt"/>
            </a:endParaRPr>
          </a:p>
          <a:p>
            <a:pPr marL="0" indent="0">
              <a:buNone/>
            </a:pPr>
            <a:r>
              <a:rPr lang="en-GB" b="1" cap="none" dirty="0">
                <a:latin typeface="+mj-lt"/>
              </a:rPr>
              <a:t>Query</a:t>
            </a:r>
          </a:p>
          <a:p>
            <a:r>
              <a:rPr lang="en-GB" cap="none" dirty="0">
                <a:latin typeface="+mj-lt"/>
              </a:rPr>
              <a:t>TEITOK: You can use TEITOK to query UD treebanks (and encode your own), combining CQP with UD. https://</a:t>
            </a:r>
            <a:r>
              <a:rPr lang="en-GB" cap="none" dirty="0" err="1">
                <a:latin typeface="+mj-lt"/>
              </a:rPr>
              <a:t>lindat.mff.cuni.cz</a:t>
            </a:r>
            <a:r>
              <a:rPr lang="en-GB" cap="none" dirty="0">
                <a:latin typeface="+mj-lt"/>
              </a:rPr>
              <a:t>/services/</a:t>
            </a:r>
            <a:r>
              <a:rPr lang="en-GB" cap="none" dirty="0" err="1">
                <a:latin typeface="+mj-lt"/>
              </a:rPr>
              <a:t>teitok</a:t>
            </a:r>
            <a:r>
              <a:rPr lang="en-GB" cap="none" dirty="0">
                <a:latin typeface="+mj-lt"/>
              </a:rPr>
              <a:t>/ud217/</a:t>
            </a:r>
          </a:p>
          <a:p>
            <a:r>
              <a:rPr lang="en-GB" cap="none" dirty="0">
                <a:latin typeface="+mj-lt"/>
              </a:rPr>
              <a:t>Match/Grew: probably the most famous tool to query UD treebanks, with a sophisticated query syntax. https://</a:t>
            </a:r>
            <a:r>
              <a:rPr lang="en-GB" cap="none" dirty="0" err="1">
                <a:latin typeface="+mj-lt"/>
              </a:rPr>
              <a:t>match.grew.fr</a:t>
            </a:r>
            <a:r>
              <a:rPr lang="en-GB" cap="none" dirty="0">
                <a:latin typeface="+mj-lt"/>
              </a:rPr>
              <a:t>/</a:t>
            </a:r>
          </a:p>
          <a:p>
            <a:r>
              <a:rPr lang="en-GB" cap="none" dirty="0" err="1"/>
              <a:t>UDEasy</a:t>
            </a:r>
            <a:r>
              <a:rPr lang="en-GB" cap="none" dirty="0"/>
              <a:t>: a stand-alone software written in Python. https://</a:t>
            </a:r>
            <a:r>
              <a:rPr lang="en-GB" cap="none" dirty="0" err="1"/>
              <a:t>unipv-larl.github.io</a:t>
            </a:r>
            <a:r>
              <a:rPr lang="en-GB" cap="none" dirty="0"/>
              <a:t>/</a:t>
            </a:r>
            <a:r>
              <a:rPr lang="en-GB" cap="none" dirty="0" err="1"/>
              <a:t>udeasy</a:t>
            </a:r>
            <a:r>
              <a:rPr lang="en-GB" cap="none" dirty="0"/>
              <a:t>/</a:t>
            </a:r>
            <a:endParaRPr lang="en-GB" dirty="0"/>
          </a:p>
          <a:p>
            <a:pPr marL="0" indent="0">
              <a:buNone/>
            </a:pPr>
            <a:r>
              <a:rPr lang="en-GB" b="1" cap="none" dirty="0">
                <a:latin typeface="+mj-lt"/>
              </a:rPr>
              <a:t>Visualize</a:t>
            </a:r>
          </a:p>
          <a:p>
            <a:r>
              <a:rPr lang="en-GB" dirty="0" err="1"/>
              <a:t>CoNLL</a:t>
            </a:r>
            <a:r>
              <a:rPr lang="en-GB" dirty="0"/>
              <a:t>-U: </a:t>
            </a:r>
            <a:r>
              <a:rPr lang="en-GB" cap="none" dirty="0"/>
              <a:t>a simple tool for visualize </a:t>
            </a:r>
            <a:r>
              <a:rPr lang="en-GB" cap="none" dirty="0" err="1"/>
              <a:t>CoNLL</a:t>
            </a:r>
            <a:r>
              <a:rPr lang="en-GB" cap="none" dirty="0"/>
              <a:t>-U files, in a fancy tree output. </a:t>
            </a:r>
            <a:r>
              <a:rPr lang="en-GB" cap="none" dirty="0">
                <a:hlinkClick r:id="rId5"/>
              </a:rPr>
              <a:t>https://universaldependencies.org/conllu_viewer.html</a:t>
            </a:r>
            <a:endParaRPr lang="en-GB" cap="none" dirty="0"/>
          </a:p>
          <a:p>
            <a:pPr marL="0" indent="0">
              <a:buNone/>
            </a:pPr>
            <a:r>
              <a:rPr lang="en-GB" b="1" cap="none" dirty="0"/>
              <a:t>Create</a:t>
            </a:r>
          </a:p>
          <a:p>
            <a:r>
              <a:rPr lang="en-GB" cap="none" dirty="0"/>
              <a:t>Arborator: an intuitive, graphical editor for create and visualize </a:t>
            </a:r>
            <a:r>
              <a:rPr lang="en-GB" cap="none" dirty="0" err="1"/>
              <a:t>CoNLL</a:t>
            </a:r>
            <a:r>
              <a:rPr lang="en-GB" cap="none" dirty="0"/>
              <a:t>-U files. https://</a:t>
            </a:r>
            <a:r>
              <a:rPr lang="en-GB" cap="none" dirty="0" err="1"/>
              <a:t>arborator.grew.fr</a:t>
            </a:r>
            <a:r>
              <a:rPr lang="en-GB" cap="none" dirty="0"/>
              <a:t>/</a:t>
            </a:r>
          </a:p>
        </p:txBody>
      </p:sp>
    </p:spTree>
    <p:extLst>
      <p:ext uri="{BB962C8B-B14F-4D97-AF65-F5344CB8AC3E}">
        <p14:creationId xmlns:p14="http://schemas.microsoft.com/office/powerpoint/2010/main" val="1028468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588B3-D79C-73D2-AFE2-744149E7F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F5259-EF12-F6A4-B326-BEBA406B7784}"/>
              </a:ext>
            </a:extLst>
          </p:cNvPr>
          <p:cNvSpPr>
            <a:spLocks noGrp="1"/>
          </p:cNvSpPr>
          <p:nvPr>
            <p:ph type="title"/>
          </p:nvPr>
        </p:nvSpPr>
        <p:spPr>
          <a:xfrm>
            <a:off x="913774" y="2630911"/>
            <a:ext cx="10364451" cy="1596177"/>
          </a:xfrm>
        </p:spPr>
        <p:txBody>
          <a:bodyPr/>
          <a:lstStyle/>
          <a:p>
            <a:r>
              <a:rPr lang="en-US" dirty="0"/>
              <a:t>Experimenting with </a:t>
            </a:r>
            <a:r>
              <a:rPr lang="en-US" dirty="0" err="1"/>
              <a:t>miniciep</a:t>
            </a:r>
            <a:r>
              <a:rPr lang="en-US" dirty="0"/>
              <a:t>+</a:t>
            </a:r>
            <a:endParaRPr lang="en-DE" dirty="0"/>
          </a:p>
        </p:txBody>
      </p:sp>
    </p:spTree>
    <p:extLst>
      <p:ext uri="{BB962C8B-B14F-4D97-AF65-F5344CB8AC3E}">
        <p14:creationId xmlns:p14="http://schemas.microsoft.com/office/powerpoint/2010/main" val="1424900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B6066-D904-E538-35D1-C45590F6F23A}"/>
              </a:ext>
            </a:extLst>
          </p:cNvPr>
          <p:cNvSpPr>
            <a:spLocks noGrp="1"/>
          </p:cNvSpPr>
          <p:nvPr>
            <p:ph type="title"/>
          </p:nvPr>
        </p:nvSpPr>
        <p:spPr/>
        <p:txBody>
          <a:bodyPr/>
          <a:lstStyle/>
          <a:p>
            <a:r>
              <a:rPr lang="en-GB" dirty="0"/>
              <a:t>H</a:t>
            </a:r>
            <a:r>
              <a:rPr lang="en-DE" dirty="0"/>
              <a:t>ow to work with miniciep+</a:t>
            </a:r>
          </a:p>
        </p:txBody>
      </p:sp>
      <p:sp>
        <p:nvSpPr>
          <p:cNvPr id="3" name="Content Placeholder 2">
            <a:extLst>
              <a:ext uri="{FF2B5EF4-FFF2-40B4-BE49-F238E27FC236}">
                <a16:creationId xmlns:a16="http://schemas.microsoft.com/office/drawing/2014/main" id="{B5EF8BAC-8BA7-D555-EE7F-4896CDEB6031}"/>
              </a:ext>
            </a:extLst>
          </p:cNvPr>
          <p:cNvSpPr>
            <a:spLocks noGrp="1"/>
          </p:cNvSpPr>
          <p:nvPr>
            <p:ph sz="quarter" idx="13"/>
          </p:nvPr>
        </p:nvSpPr>
        <p:spPr/>
        <p:txBody>
          <a:bodyPr>
            <a:normAutofit fontScale="92500" lnSpcReduction="10000"/>
          </a:bodyPr>
          <a:lstStyle/>
          <a:p>
            <a:r>
              <a:rPr lang="en-DE" cap="none" dirty="0"/>
              <a:t>In its most basic form, miniciep+ is a collection of text (txt) files using the UTF-8 encoding, so you can explore it using a simple text editor. However, it might be not so useful, as (i) you miss any form of annotation and (ii) you cannot perform elaborate queries.</a:t>
            </a:r>
          </a:p>
          <a:p>
            <a:r>
              <a:rPr lang="en-DE" cap="none" dirty="0"/>
              <a:t>Enter the </a:t>
            </a:r>
            <a:r>
              <a:rPr lang="en-GB" cap="none" dirty="0" err="1"/>
              <a:t>CoNLL</a:t>
            </a:r>
            <a:r>
              <a:rPr lang="en-GB" cap="none" dirty="0"/>
              <a:t>-U files, which are the UD-parsed version</a:t>
            </a:r>
            <a:endParaRPr lang="en-DE" cap="none" dirty="0"/>
          </a:p>
          <a:p>
            <a:r>
              <a:rPr lang="en-DE" cap="none" dirty="0"/>
              <a:t>With or without its annotations, miniciep+ can be encoded in Corpus Query Processors such as CWB (Corpus WorkBench) or Sketch Engine, allowing you to perform complex queries.</a:t>
            </a:r>
          </a:p>
          <a:p>
            <a:r>
              <a:rPr lang="en-DE" cap="none" dirty="0"/>
              <a:t>In this workshop, we will focus on </a:t>
            </a:r>
            <a:r>
              <a:rPr lang="en-DE" b="1" cap="none" dirty="0"/>
              <a:t>an alternative way of exploring corpora</a:t>
            </a:r>
            <a:r>
              <a:rPr lang="en-DE" cap="none" dirty="0"/>
              <a:t>, learning the art of extracting data from </a:t>
            </a:r>
            <a:r>
              <a:rPr lang="en-GB" cap="none" dirty="0" err="1"/>
              <a:t>CoNLL</a:t>
            </a:r>
            <a:r>
              <a:rPr lang="en-GB" cap="none" dirty="0"/>
              <a:t>-U files</a:t>
            </a:r>
            <a:r>
              <a:rPr lang="en-DE" cap="none" dirty="0"/>
              <a:t> using Python scripts and storing results in comma-separated value (CSV) files for further analyses.</a:t>
            </a:r>
          </a:p>
        </p:txBody>
      </p:sp>
    </p:spTree>
    <p:extLst>
      <p:ext uri="{BB962C8B-B14F-4D97-AF65-F5344CB8AC3E}">
        <p14:creationId xmlns:p14="http://schemas.microsoft.com/office/powerpoint/2010/main" val="286350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9EC7E-DE54-3B0C-64B5-6A8DDA602182}"/>
              </a:ext>
            </a:extLst>
          </p:cNvPr>
          <p:cNvSpPr>
            <a:spLocks noGrp="1"/>
          </p:cNvSpPr>
          <p:nvPr>
            <p:ph type="title"/>
          </p:nvPr>
        </p:nvSpPr>
        <p:spPr/>
        <p:txBody>
          <a:bodyPr/>
          <a:lstStyle/>
          <a:p>
            <a:r>
              <a:rPr lang="en-DE" dirty="0"/>
              <a:t>References</a:t>
            </a:r>
          </a:p>
        </p:txBody>
      </p:sp>
      <p:sp>
        <p:nvSpPr>
          <p:cNvPr id="3" name="Content Placeholder 2">
            <a:extLst>
              <a:ext uri="{FF2B5EF4-FFF2-40B4-BE49-F238E27FC236}">
                <a16:creationId xmlns:a16="http://schemas.microsoft.com/office/drawing/2014/main" id="{6562ADED-4AE7-68C7-5D73-4820AEB5101D}"/>
              </a:ext>
            </a:extLst>
          </p:cNvPr>
          <p:cNvSpPr>
            <a:spLocks noGrp="1"/>
          </p:cNvSpPr>
          <p:nvPr>
            <p:ph sz="quarter" idx="13"/>
          </p:nvPr>
        </p:nvSpPr>
        <p:spPr>
          <a:xfrm>
            <a:off x="913774" y="1690776"/>
            <a:ext cx="10363826" cy="4548707"/>
          </a:xfrm>
        </p:spPr>
        <p:txBody>
          <a:bodyPr>
            <a:normAutofit fontScale="62500" lnSpcReduction="20000"/>
          </a:bodyPr>
          <a:lstStyle/>
          <a:p>
            <a:r>
              <a:rPr lang="en-GB" cap="none" dirty="0" err="1"/>
              <a:t>Haspelmath</a:t>
            </a:r>
            <a:r>
              <a:rPr lang="en-GB" cap="none" dirty="0"/>
              <a:t>, Martin. 2018. How comparative concepts and descriptive linguistic categories are different. In Van </a:t>
            </a:r>
            <a:r>
              <a:rPr lang="en-GB" cap="none" dirty="0" err="1"/>
              <a:t>Olmen</a:t>
            </a:r>
            <a:r>
              <a:rPr lang="en-GB" cap="none" dirty="0"/>
              <a:t>, D.; </a:t>
            </a:r>
            <a:r>
              <a:rPr lang="en-GB" cap="none" dirty="0" err="1"/>
              <a:t>Mortelmans</a:t>
            </a:r>
            <a:r>
              <a:rPr lang="en-GB" cap="none" dirty="0"/>
              <a:t>, T. &amp; Brisard, F. (eds.), Aspects of Linguistic Variation. Berlin: De Gruyter. 83-114.</a:t>
            </a:r>
          </a:p>
          <a:p>
            <a:r>
              <a:rPr lang="en-GB" cap="none" dirty="0" err="1"/>
              <a:t>Levshina</a:t>
            </a:r>
            <a:r>
              <a:rPr lang="en-GB" cap="none" dirty="0"/>
              <a:t>, Natalia. 2021. Corpus-based typology: Applications, challenges and some solutions. Linguistic Typology 26(1). 129-160. </a:t>
            </a:r>
          </a:p>
          <a:p>
            <a:r>
              <a:rPr lang="en-GB" cap="none" dirty="0" err="1"/>
              <a:t>Levshina</a:t>
            </a:r>
            <a:r>
              <a:rPr lang="en-GB" cap="none" dirty="0"/>
              <a:t>, Natalia, </a:t>
            </a:r>
            <a:r>
              <a:rPr lang="en-GB" cap="none" dirty="0" err="1"/>
              <a:t>Namboodiripad</a:t>
            </a:r>
            <a:r>
              <a:rPr lang="en-GB" cap="none" dirty="0"/>
              <a:t>, Savithry, </a:t>
            </a:r>
            <a:r>
              <a:rPr lang="en-GB" cap="none" dirty="0" err="1"/>
              <a:t>Allassonnière-Tang</a:t>
            </a:r>
            <a:r>
              <a:rPr lang="en-GB" cap="none" dirty="0"/>
              <a:t>, Marc, Kramer, Mathew, Talamo, Luigi, </a:t>
            </a:r>
            <a:r>
              <a:rPr lang="en-GB" cap="none" dirty="0" err="1"/>
              <a:t>Verkerk</a:t>
            </a:r>
            <a:r>
              <a:rPr lang="en-GB" cap="none" dirty="0"/>
              <a:t>, Annemarie, Wilmoth, Sasha, Rodriguez, Gabriela Garrido, Gupton, Timothy Michael, Kidd, Evan, Liu, Zoey, Naccarato, Chiara, Nordlinger, Rachel, Panova, Anastasia and </a:t>
            </a:r>
            <a:r>
              <a:rPr lang="en-GB" cap="none" dirty="0" err="1"/>
              <a:t>Stoynova</a:t>
            </a:r>
            <a:r>
              <a:rPr lang="en-GB" cap="none" dirty="0"/>
              <a:t>, Natalia. 2023. "Why we need a gradient approach to word order”. Linguistics, vol. 61, no. 4, 825-883. </a:t>
            </a:r>
          </a:p>
          <a:p>
            <a:r>
              <a:rPr lang="en-GB" cap="none" dirty="0"/>
              <a:t>Mayer, Thomas &amp; Michael </a:t>
            </a:r>
            <a:r>
              <a:rPr lang="en-GB" cap="none" dirty="0" err="1"/>
              <a:t>Cysouw</a:t>
            </a:r>
            <a:r>
              <a:rPr lang="en-GB" cap="none" dirty="0"/>
              <a:t>. 2014. Creating a Massively Parallel Bible Corpus. Proceedings of the International Conference on Language Resources and Evaluation (LREC), Reykjavik, 3158-3163.</a:t>
            </a:r>
          </a:p>
          <a:p>
            <a:r>
              <a:rPr lang="en-GB" cap="none" dirty="0"/>
              <a:t>Naranjo, M. G., &amp; Becker, L. (2018). Quantitative word order typology with UD. Proceedings of the 17th International Workshop on Treebanks and Linguistic Theories (TLT 2018), </a:t>
            </a:r>
            <a:r>
              <a:rPr lang="en-GB" cap="none" dirty="0" err="1"/>
              <a:t>Linköping</a:t>
            </a:r>
            <a:r>
              <a:rPr lang="en-GB" cap="none" dirty="0"/>
              <a:t> Electronic Conference Proceedings # 155, 91–104. </a:t>
            </a:r>
          </a:p>
          <a:p>
            <a:r>
              <a:rPr lang="en-GB" cap="none" dirty="0"/>
              <a:t>Talamo, Luigi &amp; </a:t>
            </a:r>
            <a:r>
              <a:rPr lang="en-GB" cap="none" dirty="0" err="1"/>
              <a:t>Verkerk</a:t>
            </a:r>
            <a:r>
              <a:rPr lang="en-GB" cap="none" dirty="0"/>
              <a:t>, Annemarie. 2022. A new methodology for an old problem: A corpus-based typology of adnominal word order in European languages. Italian Journal of Linguistics 34(2), 171-226.</a:t>
            </a:r>
          </a:p>
          <a:p>
            <a:r>
              <a:rPr lang="en-GB" cap="none" dirty="0" err="1"/>
              <a:t>Verkerk</a:t>
            </a:r>
            <a:r>
              <a:rPr lang="en-GB" cap="none" dirty="0"/>
              <a:t>, Annemarie &amp; Luigi Talamo. 2024. mini-CIEP+ : A Shareable Parallel Corpus of Prose. In Pierre </a:t>
            </a:r>
            <a:r>
              <a:rPr lang="en-GB" cap="none" dirty="0" err="1"/>
              <a:t>Zweigenbaum</a:t>
            </a:r>
            <a:r>
              <a:rPr lang="en-GB" cap="none" dirty="0"/>
              <a:t>, Reinhard Rapp &amp; Serge </a:t>
            </a:r>
            <a:r>
              <a:rPr lang="en-GB" cap="none" dirty="0" err="1"/>
              <a:t>Sharoff</a:t>
            </a:r>
            <a:r>
              <a:rPr lang="en-GB" cap="none" dirty="0"/>
              <a:t> (eds.), Proceedings of the 17th Workshop on Building and Using Comparable Corpora (BUCC) @ LREC-COLING 2024. 135–143. ELRA and ICCL. </a:t>
            </a:r>
          </a:p>
          <a:p>
            <a:r>
              <a:rPr lang="en-GB" cap="none" dirty="0" err="1"/>
              <a:t>Wälchli</a:t>
            </a:r>
            <a:r>
              <a:rPr lang="en-GB" cap="none" dirty="0"/>
              <a:t>, Bernhard &amp; Michael </a:t>
            </a:r>
            <a:r>
              <a:rPr lang="en-GB" cap="none" dirty="0" err="1"/>
              <a:t>Cysouw</a:t>
            </a:r>
            <a:r>
              <a:rPr lang="en-GB" cap="none" dirty="0"/>
              <a:t>. 2012. Lexical typology through similarity semantics: To-ward a semantic map of motion verbs. Linguistics 50 (3). 671–710.</a:t>
            </a:r>
          </a:p>
          <a:p>
            <a:endParaRPr lang="en-DE" cap="none" dirty="0"/>
          </a:p>
        </p:txBody>
      </p:sp>
    </p:spTree>
    <p:extLst>
      <p:ext uri="{BB962C8B-B14F-4D97-AF65-F5344CB8AC3E}">
        <p14:creationId xmlns:p14="http://schemas.microsoft.com/office/powerpoint/2010/main" val="361801589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41EEE3C1AA1CE47A37E83434A3EA6E5" ma:contentTypeVersion="4" ma:contentTypeDescription="Create a new document." ma:contentTypeScope="" ma:versionID="8085f36ff7d9287e9351debdca7af103">
  <xsd:schema xmlns:xsd="http://www.w3.org/2001/XMLSchema" xmlns:xs="http://www.w3.org/2001/XMLSchema" xmlns:p="http://schemas.microsoft.com/office/2006/metadata/properties" xmlns:ns2="ce36d3df-3f48-4a27-91bb-0bc73f615d63" targetNamespace="http://schemas.microsoft.com/office/2006/metadata/properties" ma:root="true" ma:fieldsID="23b5912310af4bc5abf21c203ceab4b9" ns2:_="">
    <xsd:import namespace="ce36d3df-3f48-4a27-91bb-0bc73f615d6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36d3df-3f48-4a27-91bb-0bc73f615d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EDAE85-0849-4494-A3E0-2AFFDA64EA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e36d3df-3f48-4a27-91bb-0bc73f615d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BE05FCE-0AFA-4A73-9CB2-F798E5CC8B6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5AB1FE3-D5E8-4742-8327-8C5B638A8CF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Droplet</Template>
  <TotalTime>9917</TotalTime>
  <Words>4123</Words>
  <Application>Microsoft Macintosh PowerPoint</Application>
  <PresentationFormat>Widescreen</PresentationFormat>
  <Paragraphs>294</Paragraphs>
  <Slides>32</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ＭＳ Ｐゴシック</vt:lpstr>
      <vt:lpstr>Aptos</vt:lpstr>
      <vt:lpstr>Arial</vt:lpstr>
      <vt:lpstr>Calibri</vt:lpstr>
      <vt:lpstr>Calibri Light</vt:lpstr>
      <vt:lpstr>Helvetica Neue</vt:lpstr>
      <vt:lpstr>System Font Regular</vt:lpstr>
      <vt:lpstr>Tw Cen MT</vt:lpstr>
      <vt:lpstr>Wingdings</vt:lpstr>
      <vt:lpstr>Droplet</vt:lpstr>
      <vt:lpstr>How to do linguistic analysis with the Universal dependencies</vt:lpstr>
      <vt:lpstr>outline</vt:lpstr>
      <vt:lpstr>Corpus linguistics meet typology: Token-based typology</vt:lpstr>
      <vt:lpstr>What is miniciep?</vt:lpstr>
      <vt:lpstr> A sharable parallel corpus of prose</vt:lpstr>
      <vt:lpstr>What’s inside</vt:lpstr>
      <vt:lpstr>What you get (and how we did it)</vt:lpstr>
      <vt:lpstr>How we did it</vt:lpstr>
      <vt:lpstr>How can we share miniciep+ with you?</vt:lpstr>
      <vt:lpstr>A very short introduction to universal dependencies (UD)</vt:lpstr>
      <vt:lpstr>Universal dependencies</vt:lpstr>
      <vt:lpstr>Universal dependencies</vt:lpstr>
      <vt:lpstr>Universal dependencies: basic tenets</vt:lpstr>
      <vt:lpstr>Universal dependencies: basic tenets</vt:lpstr>
      <vt:lpstr>Universal dependencies: basic tenets</vt:lpstr>
      <vt:lpstr>Universal dependencies: basic tenets</vt:lpstr>
      <vt:lpstr>Universal dependencies: basic tenets</vt:lpstr>
      <vt:lpstr>Universal dependencies: conll-u files</vt:lpstr>
      <vt:lpstr>Universal dependencies: basic tenets</vt:lpstr>
      <vt:lpstr>Universal dependencies: UPOS</vt:lpstr>
      <vt:lpstr>Universal dependencies: UPOS</vt:lpstr>
      <vt:lpstr>Universal dependencies: Morphological features (feats)</vt:lpstr>
      <vt:lpstr>Universal dependencies: Universal morphological features (FEATS)</vt:lpstr>
      <vt:lpstr>Universal dependencies: relations (HEAD+DEPREL)</vt:lpstr>
      <vt:lpstr>Universal dependencies: relations  Some examples</vt:lpstr>
      <vt:lpstr>Universal dependencies: relations  Some examples</vt:lpstr>
      <vt:lpstr>Universal dependencies: relations  Some examples</vt:lpstr>
      <vt:lpstr>Universal dependencies: conll-u files</vt:lpstr>
      <vt:lpstr>Useful tools</vt:lpstr>
      <vt:lpstr>Experimenting with miniciep+</vt:lpstr>
      <vt:lpstr>How to work with miniciep+</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Luigi Talamo</dc:creator>
  <cp:lastModifiedBy>Luigi Talamo</cp:lastModifiedBy>
  <cp:revision>31</cp:revision>
  <dcterms:created xsi:type="dcterms:W3CDTF">2024-10-22T16:23:41Z</dcterms:created>
  <dcterms:modified xsi:type="dcterms:W3CDTF">2025-11-23T15:02:40Z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0x010100641EEE3C1AA1CE47A37E83434A3EA6E5</vt:lpwstr>
  </property>
</Properties>
</file>